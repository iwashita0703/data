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97"/>
    <p:restoredTop sz="94692"/>
  </p:normalViewPr>
  <p:slideViewPr>
    <p:cSldViewPr snapToGrid="0">
      <p:cViewPr varScale="1">
        <p:scale>
          <a:sx n="114" d="100"/>
          <a:sy n="114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E2903A-4386-7914-7171-8BACA97BF6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F8BB4B3-7767-A67D-09A9-B9F60AFE4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5EE356-6F37-D5B8-11B0-0496E28D0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3A330-9354-1140-B81B-3085B4FBC983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630F2E-6378-94BF-D71E-725623458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AB2C67-2C27-0465-7F77-1DE80D222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D710-DCC4-A44A-9A46-17787044F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5152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E707D5-A55F-2393-B5E1-BC5AFCB87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9932D0-E0EE-077A-4425-501394EA8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9E702A-E08F-E2FF-28F9-631B03290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3A330-9354-1140-B81B-3085B4FBC983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DE05C5-C2D8-9F12-2FAD-D0819CE5D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97EFAB-DC38-1C1B-6E37-D34D6B1A6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D710-DCC4-A44A-9A46-17787044F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4384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6E44CE-FE4A-DCCE-A4D9-8BC9B1C38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D2010A6-86CB-4F06-EE1B-B8D523224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4D67D7-EA98-8F9A-6869-6912A02C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3A330-9354-1140-B81B-3085B4FBC983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967B91-CED0-E4B7-A8E0-CE07F5564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24CFF4-E0DF-87DC-1C93-9BA064E4C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D710-DCC4-A44A-9A46-17787044F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0423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3F197E-F4AE-72C0-C584-DD9F00AAF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9D1FBB-DFD1-A621-FC49-E24D5635F1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BA6C835-3F32-CABB-AB56-75C1C8791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1C2F5E1-AF88-FD4E-4874-31104E73E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3A330-9354-1140-B81B-3085B4FBC983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8DC53F2-8259-DCBA-AD35-FD42E9FA4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FF2FFAB-3B40-F663-0884-EB2AE9A64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D710-DCC4-A44A-9A46-17787044F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4451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DF9791-D60E-E9FC-E01D-4E3A1E637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AA40884-B074-43AD-31D5-6A8EE1426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4344169-FD1C-D457-2F72-F538D9DAFE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A20406C-02B4-7799-1009-AF64900013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216FA77-E5E6-D141-30DE-82E523FC35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4C9177D-45FB-7ACE-81D6-3DDDB4B11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3A330-9354-1140-B81B-3085B4FBC983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F33984B-6D60-7101-14EC-A1AB5A431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75EE430-A26D-E632-90AB-56FA09F40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D710-DCC4-A44A-9A46-17787044F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1502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C14840-E5C7-4060-B438-5F51EF7B5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E27F905-6C34-DD1F-FFCD-3A8876E44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3A330-9354-1140-B81B-3085B4FBC983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101D6CB-55EC-5596-2683-B65D66610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F722D93-02EE-06C8-9352-2F16708B2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D710-DCC4-A44A-9A46-17787044F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3646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7B97DC8-A38D-F67F-4BD8-DA933543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3A330-9354-1140-B81B-3085B4FBC983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F6CCED7-467B-8431-069F-AE1B62C49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753A262-C854-DAE7-768B-24FC5D1E3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D710-DCC4-A44A-9A46-17787044F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1716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19DDC5-76D9-94EC-963F-E69C8E7FE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6315A2B-400B-214F-8D0D-7FD561C16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B07EE9B-5577-FC73-0D6F-5CDDCB7658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50D10BE-B2D1-025F-25DB-784D7C74B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3A330-9354-1140-B81B-3085B4FBC983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2E72279-36D3-9CFC-DE05-368F0F842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A202BD1-3EC2-B9CE-E07F-DEFA15B6D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D710-DCC4-A44A-9A46-17787044F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4889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EB4799-B3AE-D5B4-883B-799263133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4B7CD64-2CB8-1590-D2A9-EAA713A01F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D23A55B-526B-3DD1-0F46-E35D8DF5B0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442CAD4-4AF0-3AAF-6622-5544E896F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3A330-9354-1140-B81B-3085B4FBC983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509BFFE-6DA3-1454-FAAD-B93956410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93EBB4F-77A6-A5B6-7173-5F2045061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D710-DCC4-A44A-9A46-17787044F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4824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BD81EB-05CB-40B1-66F1-7F1913D5F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73A5023-7598-9DD0-C968-06231CA04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BC4982-7232-73DA-FC6F-E810CA343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3A330-9354-1140-B81B-3085B4FBC983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0C44E80-DED5-66B8-AFAB-4B908333D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6E1993-70F1-90B8-F43C-6B5F4E9BA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D710-DCC4-A44A-9A46-17787044F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8478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7225441-4109-0502-47CC-7DA6A0454E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2797A46-B8C6-205A-8892-664F3E576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3FC0D2-79C9-B848-DE86-5520D3528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3A330-9354-1140-B81B-3085B4FBC983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355EC6-5F3A-6DA0-6612-7A46BC263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944889A-A4F0-F187-3E40-99C76FFC2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D710-DCC4-A44A-9A46-17787044F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7826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3307EDE-B8D5-57B5-7AB1-21C0ACD7A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5C2ECAF-C32F-D46A-AB44-74A0A688E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88262A-10E9-1DEB-4551-C82A58F1A7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73A330-9354-1140-B81B-3085B4FBC983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98721CF-1E4B-C932-AE09-4867D724C1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942840-AD99-A3BB-0813-6AB9F24D02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F5D710-DCC4-A44A-9A46-17787044F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2378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40C4F-C9C1-58FE-05A6-BB8ED84E7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>
            <a:extLst>
              <a:ext uri="{FF2B5EF4-FFF2-40B4-BE49-F238E27FC236}">
                <a16:creationId xmlns:a16="http://schemas.microsoft.com/office/drawing/2014/main" id="{E251027F-4C24-5948-5C5D-7649CD3D55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6078" y="553534"/>
            <a:ext cx="9144000" cy="2223120"/>
          </a:xfrm>
        </p:spPr>
        <p:txBody>
          <a:bodyPr>
            <a:noAutofit/>
          </a:bodyPr>
          <a:lstStyle/>
          <a:p>
            <a:pPr algn="l"/>
            <a:r>
              <a:rPr kumimoji="1" lang="ja-JP" altLang="en-US" sz="1800"/>
              <a:t>理由：データ傾向の分析（</a:t>
            </a:r>
            <a:r>
              <a:rPr kumimoji="1" lang="en" altLang="ja-JP" sz="1800" dirty="0" err="1"/>
              <a:t>hage.csv</a:t>
            </a:r>
            <a:r>
              <a:rPr kumimoji="1" lang="ja-JP" altLang="en" sz="1800"/>
              <a:t>）：</a:t>
            </a:r>
          </a:p>
          <a:p>
            <a:pPr algn="l"/>
            <a:r>
              <a:rPr kumimoji="1" lang="ja-JP" altLang="en-US" sz="1800"/>
              <a:t>店舗</a:t>
            </a:r>
            <a:r>
              <a:rPr kumimoji="1" lang="en" altLang="ja-JP" sz="1800" dirty="0"/>
              <a:t>A</a:t>
            </a:r>
            <a:r>
              <a:rPr kumimoji="1" lang="ja-JP" altLang="en" sz="1800"/>
              <a:t>：</a:t>
            </a:r>
            <a:r>
              <a:rPr kumimoji="1" lang="ja-JP" altLang="en-US" sz="1800"/>
              <a:t>広告費</a:t>
            </a:r>
            <a:r>
              <a:rPr kumimoji="1" lang="en-US" altLang="ja-JP" sz="1800" dirty="0"/>
              <a:t>5</a:t>
            </a:r>
            <a:r>
              <a:rPr kumimoji="1" lang="ja-JP" altLang="en-US" sz="1800"/>
              <a:t>、営業マン</a:t>
            </a:r>
            <a:r>
              <a:rPr kumimoji="1" lang="en-US" altLang="ja-JP" sz="1800" dirty="0"/>
              <a:t>6 → </a:t>
            </a:r>
            <a:r>
              <a:rPr kumimoji="1" lang="ja-JP" altLang="en-US" sz="1800"/>
              <a:t>売上</a:t>
            </a:r>
            <a:r>
              <a:rPr kumimoji="1" lang="en-US" altLang="ja-JP" sz="1800" dirty="0"/>
              <a:t>8</a:t>
            </a:r>
          </a:p>
          <a:p>
            <a:pPr algn="l"/>
            <a:r>
              <a:rPr kumimoji="1" lang="ja-JP" altLang="en-US" sz="1800"/>
              <a:t>店舗</a:t>
            </a:r>
            <a:r>
              <a:rPr kumimoji="1" lang="en" altLang="ja-JP" sz="1800" dirty="0"/>
              <a:t>E</a:t>
            </a:r>
            <a:r>
              <a:rPr kumimoji="1" lang="ja-JP" altLang="en" sz="1800"/>
              <a:t>：</a:t>
            </a:r>
            <a:r>
              <a:rPr kumimoji="1" lang="ja-JP" altLang="en-US" sz="1800"/>
              <a:t>広告費</a:t>
            </a:r>
            <a:r>
              <a:rPr kumimoji="1" lang="en-US" altLang="ja-JP" sz="1800" dirty="0"/>
              <a:t>8</a:t>
            </a:r>
            <a:r>
              <a:rPr kumimoji="1" lang="ja-JP" altLang="en-US" sz="1800"/>
              <a:t>、営業マン</a:t>
            </a:r>
            <a:r>
              <a:rPr kumimoji="1" lang="en-US" altLang="ja-JP" sz="1800" dirty="0"/>
              <a:t>12 → </a:t>
            </a:r>
            <a:r>
              <a:rPr kumimoji="1" lang="ja-JP" altLang="en-US" sz="1800"/>
              <a:t>売上</a:t>
            </a:r>
            <a:r>
              <a:rPr kumimoji="1" lang="en-US" altLang="ja-JP" sz="1800" dirty="0"/>
              <a:t>14</a:t>
            </a:r>
          </a:p>
          <a:p>
            <a:pPr algn="l"/>
            <a:r>
              <a:rPr kumimoji="1" lang="ja-JP" altLang="en-US" sz="1800"/>
              <a:t>店舗</a:t>
            </a:r>
            <a:r>
              <a:rPr kumimoji="1" lang="en" altLang="ja-JP" sz="1800" dirty="0"/>
              <a:t>F</a:t>
            </a:r>
            <a:r>
              <a:rPr kumimoji="1" lang="ja-JP" altLang="en" sz="1800"/>
              <a:t>：</a:t>
            </a:r>
            <a:r>
              <a:rPr kumimoji="1" lang="ja-JP" altLang="en-US" sz="1800"/>
              <a:t>広告費</a:t>
            </a:r>
            <a:r>
              <a:rPr kumimoji="1" lang="en-US" altLang="ja-JP" sz="1800" dirty="0"/>
              <a:t>12</a:t>
            </a:r>
            <a:r>
              <a:rPr kumimoji="1" lang="ja-JP" altLang="en-US" sz="1800"/>
              <a:t>、営業マン</a:t>
            </a:r>
            <a:r>
              <a:rPr kumimoji="1" lang="en-US" altLang="ja-JP" sz="1800" dirty="0"/>
              <a:t>13 → </a:t>
            </a:r>
            <a:r>
              <a:rPr kumimoji="1" lang="ja-JP" altLang="en-US" sz="1800"/>
              <a:t>売上</a:t>
            </a:r>
            <a:r>
              <a:rPr kumimoji="1" lang="en-US" altLang="ja-JP" sz="1800" dirty="0"/>
              <a:t>17</a:t>
            </a:r>
          </a:p>
          <a:p>
            <a:pPr algn="l"/>
            <a:r>
              <a:rPr kumimoji="1" lang="ja-JP" altLang="en-US" sz="1800"/>
              <a:t>推測される関係： データを概観すると、売上はおおよそ「広告費 </a:t>
            </a:r>
            <a:r>
              <a:rPr kumimoji="1" lang="en-US" altLang="ja-JP" sz="1800" dirty="0"/>
              <a:t>+ 0.5 × </a:t>
            </a:r>
            <a:r>
              <a:rPr kumimoji="1" lang="ja-JP" altLang="en-US" sz="1800"/>
              <a:t>営業マン」に近い値をとってい</a:t>
            </a:r>
            <a:r>
              <a:rPr lang="ja-JP" altLang="en-US" sz="1800"/>
              <a:t>るため、以下の結果になったと推測する</a:t>
            </a:r>
            <a:endParaRPr kumimoji="1" lang="ja-JP" altLang="en-US" sz="1800"/>
          </a:p>
        </p:txBody>
      </p:sp>
      <p:sp>
        <p:nvSpPr>
          <p:cNvPr id="7" name="字幕 2">
            <a:extLst>
              <a:ext uri="{FF2B5EF4-FFF2-40B4-BE49-F238E27FC236}">
                <a16:creationId xmlns:a16="http://schemas.microsoft.com/office/drawing/2014/main" id="{1873059B-5F1B-71AA-1A21-0573DAEE2543}"/>
              </a:ext>
            </a:extLst>
          </p:cNvPr>
          <p:cNvSpPr txBox="1">
            <a:spLocks/>
          </p:cNvSpPr>
          <p:nvPr/>
        </p:nvSpPr>
        <p:spPr>
          <a:xfrm>
            <a:off x="182453" y="3211551"/>
            <a:ext cx="9144000" cy="434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/>
              <a:t>以下にソースコードを添付する</a:t>
            </a:r>
          </a:p>
        </p:txBody>
      </p:sp>
      <p:sp>
        <p:nvSpPr>
          <p:cNvPr id="8" name="右矢印 7">
            <a:extLst>
              <a:ext uri="{FF2B5EF4-FFF2-40B4-BE49-F238E27FC236}">
                <a16:creationId xmlns:a16="http://schemas.microsoft.com/office/drawing/2014/main" id="{DB0B1599-1AB7-3625-C88E-ECFC778AC6D7}"/>
              </a:ext>
            </a:extLst>
          </p:cNvPr>
          <p:cNvSpPr/>
          <p:nvPr/>
        </p:nvSpPr>
        <p:spPr>
          <a:xfrm>
            <a:off x="5438078" y="489538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字幕 2">
            <a:extLst>
              <a:ext uri="{FF2B5EF4-FFF2-40B4-BE49-F238E27FC236}">
                <a16:creationId xmlns:a16="http://schemas.microsoft.com/office/drawing/2014/main" id="{C6A2729E-07B3-FC69-586E-729A4AF2C16B}"/>
              </a:ext>
            </a:extLst>
          </p:cNvPr>
          <p:cNvSpPr txBox="1">
            <a:spLocks/>
          </p:cNvSpPr>
          <p:nvPr/>
        </p:nvSpPr>
        <p:spPr>
          <a:xfrm>
            <a:off x="5056779" y="4325318"/>
            <a:ext cx="1444382" cy="434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/>
              <a:t>実行結果</a:t>
            </a:r>
          </a:p>
        </p:txBody>
      </p:sp>
      <p:sp>
        <p:nvSpPr>
          <p:cNvPr id="10" name="字幕 2">
            <a:extLst>
              <a:ext uri="{FF2B5EF4-FFF2-40B4-BE49-F238E27FC236}">
                <a16:creationId xmlns:a16="http://schemas.microsoft.com/office/drawing/2014/main" id="{E2862674-774B-E1EB-E3D6-E7249F321006}"/>
              </a:ext>
            </a:extLst>
          </p:cNvPr>
          <p:cNvSpPr txBox="1">
            <a:spLocks/>
          </p:cNvSpPr>
          <p:nvPr/>
        </p:nvSpPr>
        <p:spPr>
          <a:xfrm>
            <a:off x="6919648" y="5024622"/>
            <a:ext cx="5103542" cy="2969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 sz="1600"/>
              <a:t>店舗</a:t>
            </a:r>
            <a:r>
              <a:rPr lang="en" altLang="ja-JP" sz="1600" dirty="0"/>
              <a:t>G</a:t>
            </a:r>
            <a:r>
              <a:rPr lang="ja-JP" altLang="en-US" sz="1600"/>
              <a:t>の売上予測値 </a:t>
            </a:r>
            <a:r>
              <a:rPr lang="en-US" altLang="ja-JP" sz="1600" dirty="0"/>
              <a:t>= 18.62167 </a:t>
            </a:r>
            <a:r>
              <a:rPr lang="ja-JP" altLang="en-US" sz="1600"/>
              <a:t>千万円</a:t>
            </a:r>
          </a:p>
        </p:txBody>
      </p:sp>
      <p:pic>
        <p:nvPicPr>
          <p:cNvPr id="5" name="図 4" descr="コンピューター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A1161328-1D0C-E848-4EAD-42D936FFD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82" y="3766102"/>
            <a:ext cx="4218101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439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1972A9-7EFF-23EB-C3B8-815D772BA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52293" y="156117"/>
            <a:ext cx="9144000" cy="532587"/>
          </a:xfrm>
        </p:spPr>
        <p:txBody>
          <a:bodyPr>
            <a:normAutofit fontScale="90000"/>
          </a:bodyPr>
          <a:lstStyle/>
          <a:p>
            <a:r>
              <a:rPr kumimoji="1" lang="ja-JP" altLang="en-US" sz="3600"/>
              <a:t>結論　高専太郎さんを採用すべき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10F523D-9C66-2D8C-74C5-F725741832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610" y="876920"/>
            <a:ext cx="9144000" cy="1655762"/>
          </a:xfrm>
        </p:spPr>
        <p:txBody>
          <a:bodyPr/>
          <a:lstStyle/>
          <a:p>
            <a:pPr algn="l"/>
            <a:r>
              <a:rPr kumimoji="1" lang="ja-JP" altLang="en-US"/>
              <a:t>理由：分析に基づくと、入社後の業績により強い影響を与えているのは就職試験の成績。花子さんは学校の成績は優秀ですが、試験成績が低いため業績予測も低くなる。一方、太郎さんは試験成績が高いため、高い業績が期待できるから</a:t>
            </a:r>
          </a:p>
        </p:txBody>
      </p:sp>
      <p:pic>
        <p:nvPicPr>
          <p:cNvPr id="6" name="図 5" descr="コンピューター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333837C8-6BDC-7343-928D-8BCA86995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10" y="3732523"/>
            <a:ext cx="4569515" cy="2969360"/>
          </a:xfrm>
          <a:prstGeom prst="rect">
            <a:avLst/>
          </a:prstGeom>
        </p:spPr>
      </p:pic>
      <p:sp>
        <p:nvSpPr>
          <p:cNvPr id="7" name="字幕 2">
            <a:extLst>
              <a:ext uri="{FF2B5EF4-FFF2-40B4-BE49-F238E27FC236}">
                <a16:creationId xmlns:a16="http://schemas.microsoft.com/office/drawing/2014/main" id="{91434C54-3A61-2181-8957-F4D4F74D16B7}"/>
              </a:ext>
            </a:extLst>
          </p:cNvPr>
          <p:cNvSpPr txBox="1">
            <a:spLocks/>
          </p:cNvSpPr>
          <p:nvPr/>
        </p:nvSpPr>
        <p:spPr>
          <a:xfrm>
            <a:off x="182453" y="3211551"/>
            <a:ext cx="9144000" cy="434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/>
              <a:t>以下にソースコードを添付する</a:t>
            </a:r>
          </a:p>
        </p:txBody>
      </p:sp>
      <p:sp>
        <p:nvSpPr>
          <p:cNvPr id="8" name="右矢印 7">
            <a:extLst>
              <a:ext uri="{FF2B5EF4-FFF2-40B4-BE49-F238E27FC236}">
                <a16:creationId xmlns:a16="http://schemas.microsoft.com/office/drawing/2014/main" id="{D3215D33-A60E-C83E-8404-8B12ABB7B2A6}"/>
              </a:ext>
            </a:extLst>
          </p:cNvPr>
          <p:cNvSpPr/>
          <p:nvPr/>
        </p:nvSpPr>
        <p:spPr>
          <a:xfrm>
            <a:off x="5438078" y="489538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字幕 2">
            <a:extLst>
              <a:ext uri="{FF2B5EF4-FFF2-40B4-BE49-F238E27FC236}">
                <a16:creationId xmlns:a16="http://schemas.microsoft.com/office/drawing/2014/main" id="{EC61BBE1-FE03-67FA-B360-D9E04FF1DB03}"/>
              </a:ext>
            </a:extLst>
          </p:cNvPr>
          <p:cNvSpPr txBox="1">
            <a:spLocks/>
          </p:cNvSpPr>
          <p:nvPr/>
        </p:nvSpPr>
        <p:spPr>
          <a:xfrm>
            <a:off x="5056779" y="4325318"/>
            <a:ext cx="1444382" cy="434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/>
              <a:t>実行結果</a:t>
            </a:r>
          </a:p>
        </p:txBody>
      </p:sp>
      <p:sp>
        <p:nvSpPr>
          <p:cNvPr id="10" name="字幕 2">
            <a:extLst>
              <a:ext uri="{FF2B5EF4-FFF2-40B4-BE49-F238E27FC236}">
                <a16:creationId xmlns:a16="http://schemas.microsoft.com/office/drawing/2014/main" id="{052F7758-2566-FEAD-D82D-88AADB9FBFF6}"/>
              </a:ext>
            </a:extLst>
          </p:cNvPr>
          <p:cNvSpPr txBox="1">
            <a:spLocks/>
          </p:cNvSpPr>
          <p:nvPr/>
        </p:nvSpPr>
        <p:spPr>
          <a:xfrm>
            <a:off x="6774682" y="4760216"/>
            <a:ext cx="5103542" cy="2969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" altLang="ja-JP" sz="1600" dirty="0"/>
              <a:t>1 </a:t>
            </a:r>
            <a:r>
              <a:rPr lang="ja-JP" altLang="en-US" sz="1600"/>
              <a:t>高専太郎                </a:t>
            </a:r>
            <a:r>
              <a:rPr lang="en-US" altLang="ja-JP" sz="1600" dirty="0"/>
              <a:t>8              4      6.840000</a:t>
            </a:r>
          </a:p>
          <a:p>
            <a:pPr algn="l"/>
            <a:r>
              <a:rPr lang="en-US" altLang="ja-JP" sz="1600" dirty="0"/>
              <a:t>2 </a:t>
            </a:r>
            <a:r>
              <a:rPr lang="ja-JP" altLang="en-US" sz="1600"/>
              <a:t>日本花子                </a:t>
            </a:r>
            <a:r>
              <a:rPr lang="en-US" altLang="ja-JP" sz="1600" dirty="0"/>
              <a:t>4              8      2.588571</a:t>
            </a:r>
            <a:endParaRPr lang="ja-JP" altLang="en-US" sz="1600"/>
          </a:p>
        </p:txBody>
      </p:sp>
    </p:spTree>
    <p:extLst>
      <p:ext uri="{BB962C8B-B14F-4D97-AF65-F5344CB8AC3E}">
        <p14:creationId xmlns:p14="http://schemas.microsoft.com/office/powerpoint/2010/main" val="1336031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192</Words>
  <Application>Microsoft Macintosh PowerPoint</Application>
  <PresentationFormat>ワイド画面</PresentationFormat>
  <Paragraphs>14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結論　高専太郎さんを採用すべき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26Y1AP02：岩下_熊本</dc:creator>
  <cp:lastModifiedBy>26Y1AP02：岩下_熊本</cp:lastModifiedBy>
  <cp:revision>2</cp:revision>
  <dcterms:created xsi:type="dcterms:W3CDTF">2026-05-20T02:19:52Z</dcterms:created>
  <dcterms:modified xsi:type="dcterms:W3CDTF">2026-05-20T02:38:38Z</dcterms:modified>
</cp:coreProperties>
</file>