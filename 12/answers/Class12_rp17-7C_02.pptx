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8f670050f41d2" /><Relationship Type="http://schemas.openxmlformats.org/officeDocument/2006/relationships/extended-properties" Target="/docProps/app.xml" Id="R3b3546cba6fc4644" /><Relationship Type="http://schemas.openxmlformats.org/officeDocument/2006/relationships/officeDocument" Target="/ppt/presentation.xml" Id="Ra996245b0f2a4f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48c6680d284c9c"/>
  </p:sldMasterIdLst>
  <p:notesMasterIdLst>
    <p:notesMasterId xmlns:r="http://schemas.openxmlformats.org/officeDocument/2006/relationships" r:id="R52a1019eafcb433f"/>
  </p:notesMasterIdLst>
  <p:sldIdLst>
    <p:sldId xmlns:r="http://schemas.openxmlformats.org/officeDocument/2006/relationships" id="256" r:id="Ra1298444c46a414d"/>
    <p:sldId xmlns:r="http://schemas.openxmlformats.org/officeDocument/2006/relationships" id="257" r:id="R6ea22fb999274f48"/>
    <p:sldId xmlns:r="http://schemas.openxmlformats.org/officeDocument/2006/relationships" id="258" r:id="R61a96ab7b38e4767"/>
    <p:sldId xmlns:r="http://schemas.openxmlformats.org/officeDocument/2006/relationships" id="259" r:id="R03d3938120ad4f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f55c5c594455d" /><Relationship Type="http://schemas.openxmlformats.org/officeDocument/2006/relationships/slideMaster" Target="/ppt/slideMasters/slideMaster1.xml" Id="Rc648c6680d284c9c" /><Relationship Type="http://schemas.openxmlformats.org/officeDocument/2006/relationships/notesMaster" Target="/ppt/notesMasters/notesMaster1.xml" Id="R52a1019eafcb433f" /><Relationship Type="http://schemas.openxmlformats.org/officeDocument/2006/relationships/presProps" Target="/ppt/presProps.xml" Id="R6e456046696b420d" /><Relationship Type="http://schemas.openxmlformats.org/officeDocument/2006/relationships/tableStyles" Target="/ppt/tableStyles.xml" Id="R74b0c42e89834fc0" /><Relationship Type="http://schemas.openxmlformats.org/officeDocument/2006/relationships/slide" Target="/ppt/slides/slide1.xml" Id="Ra1298444c46a414d" /><Relationship Type="http://schemas.openxmlformats.org/officeDocument/2006/relationships/slide" Target="/ppt/slides/slide2.xml" Id="R6ea22fb999274f48" /><Relationship Type="http://schemas.openxmlformats.org/officeDocument/2006/relationships/slide" Target="/ppt/slides/slide3.xml" Id="R61a96ab7b38e4767" /><Relationship Type="http://schemas.openxmlformats.org/officeDocument/2006/relationships/slide" Target="/ppt/slides/slide4.xml" Id="R03d3938120ad4f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0fdc6bdb343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5c4b3775af4189" /><Relationship Type="http://schemas.openxmlformats.org/officeDocument/2006/relationships/notesMaster" Target="/ppt/notesMasters/notesMaster1.xml" Id="R445091d4f843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00ce70efc049f7" /><Relationship Type="http://schemas.openxmlformats.org/officeDocument/2006/relationships/notesMaster" Target="/ppt/notesMasters/notesMaster1.xml" Id="R7e0e3824ad794f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c9b38ad5224100" /><Relationship Type="http://schemas.openxmlformats.org/officeDocument/2006/relationships/notesMaster" Target="/ppt/notesMasters/notesMaster1.xml" Id="R824e4adc271241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5db12ac8784ca1" /><Relationship Type="http://schemas.openxmlformats.org/officeDocument/2006/relationships/notesMaster" Target="/ppt/notesMasters/notesMaster1.xml" Id="Rcc174da38c9a4c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f5ddca55846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5f25b8a2204687" /><Relationship Type="http://schemas.openxmlformats.org/officeDocument/2006/relationships/slideLayout" Target="/ppt/slideLayouts/slideLayout1.xml" Id="R8bd4936a16e6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d4936a16e6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6a359ab9749d6" /><Relationship Type="http://schemas.openxmlformats.org/officeDocument/2006/relationships/image" Target="/ppt/media/image.png" Id="Rc541bcdb5fec4cab" /><Relationship Type="http://schemas.openxmlformats.org/officeDocument/2006/relationships/notesSlide" Target="/ppt/notesSlides/notesSlide1.xml" Id="R117bfb3c478a43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80ab41bd94634" /><Relationship Type="http://schemas.openxmlformats.org/officeDocument/2006/relationships/image" Target="/ppt/media/image2.png" Id="Rf0ada4d6626d408d" /><Relationship Type="http://schemas.openxmlformats.org/officeDocument/2006/relationships/notesSlide" Target="/ppt/notesSlides/notesSlide2.xml" Id="R8acfba584aca43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8b4eb013f46c3" /><Relationship Type="http://schemas.openxmlformats.org/officeDocument/2006/relationships/image" Target="/ppt/media/image3.png" Id="Ref9cb4b87d6f48a9" /><Relationship Type="http://schemas.openxmlformats.org/officeDocument/2006/relationships/image" Target="/ppt/media/image4.png" Id="Rf9e2be29bbe540e3" /><Relationship Type="http://schemas.openxmlformats.org/officeDocument/2006/relationships/notesSlide" Target="/ppt/notesSlides/notesSlide3.xml" Id="R85060ed46c8649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0a06899f749e9" /><Relationship Type="http://schemas.openxmlformats.org/officeDocument/2006/relationships/notesSlide" Target="/ppt/notesSlides/notesSlide4.xml" Id="Reec7ecae34874a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0D98C3-395F-4C34-8A5B-89AF39E4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車イメージ調査の販売促進分析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A8809-4B8B-48F2-80EA-6FC5E54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image_tyousa.csv: A-J車種の印象語10項目をPCAで整理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C0702-EF83-4FA1-9E2D-7188F616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2BB20-9527-4B70-9A03-66AE4863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7572F-DCC2-40DC-8C7E-2E1B91C3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PC1寄与率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4CAAD-D7E1-4B95-8ADF-55D90BB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54.7%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30E47-13A1-4F0F-B29A-C5AF44A6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7FC6F-A3CE-4C61-B437-6DC1701D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818DE-80C6-4D57-8BDD-70D689D6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PC2寄与率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390C2-02E1-47C4-9DBE-65DCA6DB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25.6%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224DF-FF38-4438-BAEF-8B97F347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BB788-8F63-4E52-B85C-B4EC56C7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9A967-74E8-46F9-824D-A66E277F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累積寄与率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84983-EEEC-435D-975D-EA1FC126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80.3%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A6B4D-B995-497A-B0E7-108C588D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・PC1は「好き・欲しい」と「ダサい・嫌い」が反対方向に出る好意度軸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・PC2は「プロ的・格好良い」と「一般的・初心者的」の違いを表す軸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・PC1+PC2で元データの80.3%を説明できる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1bcdb5fec4cab"/>
          <a:stretch xmlns:a="http://schemas.openxmlformats.org/drawingml/2006/main"/>
        </p:blipFill>
        <p:spPr>
          <a:xfrm xmlns:a="http://schemas.openxmlformats.org/drawingml/2006/main">
            <a:off x="6667500" y="3048000"/>
            <a:ext cx="4286250" cy="2857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1B523-782E-4C20-A029-893C9A3F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17-7C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729144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8FB44-F649-4E73-9F92-EC0479D5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元データの確認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19851-2A00-4E20-9F25-C9380636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各対象の得点・人数を比較し、PCA解釈の前提を確認する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257300"/>
          <a:ext xmlns:a="http://schemas.openxmlformats.org/drawingml/2006/main" cx="1057275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61159"/>
                <a:gridCol w="961159"/>
                <a:gridCol w="961159"/>
                <a:gridCol w="961159"/>
                <a:gridCol w="961159"/>
                <a:gridCol w="961159"/>
                <a:gridCol w="961159"/>
                <a:gridCol w="961159"/>
                <a:gridCol w="961159"/>
                <a:gridCol w="961159"/>
                <a:gridCol w="961159"/>
              </a:tblGrid>
              <a:tr h="199159"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kuruma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puro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kakkoii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suki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kawaii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ippanteki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miha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syoshinsya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dasai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kirai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25" b="1">
                          <a:solidFill>
                            <a:srgbClr val="FFFFFF"/>
                          </a:solidFill>
                        </a:rPr>
                        <a:t>hoshii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71.00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94.00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7.00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37.00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75.00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29.00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10.00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67.00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14.00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8.00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52.00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35.00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7.00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11.00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9.00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32.00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23.00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27.00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7.00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7.00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9.00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9.00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11.00</a:t>
                      </a:r>
                    </a:p>
                  </a:txBody>
                  <a:tcPr marL="91440" marR="91440" marT="45720" marB="45720"/>
                </a:tc>
              </a:tr>
              <a:tr h="199159"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J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41.00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20.00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12.00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525">
                          <a:solidFill>
                            <a:srgbClr val="1C2A32"/>
                          </a:solidFill>
                        </a:rPr>
                        <a:t>17.00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da4d6626d408d"/>
          <a:stretch xmlns:a="http://schemas.openxmlformats.org/drawingml/2006/main"/>
        </p:blipFill>
        <p:spPr>
          <a:xfrm xmlns:a="http://schemas.openxmlformats.org/drawingml/2006/main">
            <a:off x="4429125" y="3505200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96415-E043-4098-B800-F0DF3F4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・Aは一般的・ミーハー・好き・欲しいが高く、量販向きの印象が強い。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・Cはプロ的が高い一方、好き・欲しいは弱い。F/Gは初心者的・ダサい側が目立つ。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B9DBF-E713-440B-AA6E-E1104E4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17-7C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1431842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496633-F2BC-48B4-B25C-115573CD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主成分得点と負荷量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09C02-7139-407A-8BFC-C6074EB4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第1主成分と第2主成分の位置関係から特徴を読む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cb4b87d6f48a9"/>
          <a:stretch xmlns:a="http://schemas.openxmlformats.org/drawingml/2006/main"/>
        </p:blipFill>
        <p:spPr>
          <a:xfrm xmlns:a="http://schemas.openxmlformats.org/drawingml/2006/main">
            <a:off x="552450" y="1475105"/>
            <a:ext cx="5334000" cy="369824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2be29bbe540e3"/>
          <a:stretch xmlns:a="http://schemas.openxmlformats.org/drawingml/2006/main"/>
        </p:blipFill>
        <p:spPr>
          <a:xfrm xmlns:a="http://schemas.openxmlformats.org/drawingml/2006/main">
            <a:off x="6286500" y="1430431"/>
            <a:ext cx="4953000" cy="37875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67C6C-3073-4AB4-B795-E269F405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・左側ほど好意・購買意向が強く、右側ほど否定的印象が強い。下側はプロ・格好良い寄りに読める。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D174A-CBA1-4EF7-8A54-46803193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17-7C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1519943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EF5D9-CA13-403E-8CA0-E43FDDE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解釈と提案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B449B-C246-4A5A-9D3A-025B3F3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分析担当としての結論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8E1FC-3923-490E-8B4F-A6FD192A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334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・販売促進の中心候補はA。認知されやすく、好意度と購買意向が高い。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・EとHは格好良さや欲しい印象を補助訴求として使える。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・Cはプロ的印象を活かした専門性・こだわり訴求が向くが、欲しい印象の弱さを補う必要がある。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・F/G/Dは初心者的・ダサい・嫌い側の印象が強く、改善またはターゲット再設定が必要。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0" y="1238250"/>
          <a:ext xmlns:a="http://schemas.openxmlformats.org/drawingml/2006/main" cx="40005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</a:tblGrid>
              <a:tr h="225136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kuruma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PC1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PC2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-4.33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0.48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3.45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-1.08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2.88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1.47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-2.13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-1.74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0.74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1.89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-0.19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-1.55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-0.38</a:t>
                      </a:r>
                    </a:p>
                  </a:txBody>
                  <a:tcPr marL="91440" marR="91440" marT="45720" marB="45720"/>
                </a:tc>
              </a:tr>
              <a:tr h="2251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J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-1.20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0" y="4076700"/>
          <a:ext xmlns:a="http://schemas.openxmlformats.org/drawingml/2006/main" cx="40005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</a:tblGrid>
              <a:tr h="1905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PC1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PC2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puro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-0.52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kakkoii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-0.44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suki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-0.02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kawaii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0.39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ippanteki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0.34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miha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0.13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syoshinsya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0.38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dasai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0.07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kirai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0.31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-0.14</a:t>
                      </a:r>
                    </a:p>
                  </a:txBody>
                  <a:tcPr marL="91440" marR="91440" marT="45720" marB="45720"/>
                </a:tc>
              </a:tr>
              <a:tr h="1905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hoshii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1C2A32"/>
                          </a:solidFill>
                        </a:rPr>
                        <a:t>-0.27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AE5E0-CFFD-47F4-AFE9-E70B9C9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17-7C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298583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2026-06-17T01:46:01.4700000Z</dcterms:created>
  <dcterms:modified xsi:type="dcterms:W3CDTF">2026-06-17T01:46:01.4700000Z</dcterms:modified>
</coreProperties>
</file>