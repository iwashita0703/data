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0c82c7d8464454" /><Relationship Type="http://schemas.openxmlformats.org/officeDocument/2006/relationships/extended-properties" Target="/docProps/app.xml" Id="R25fb37ffb8ab4b09" /><Relationship Type="http://schemas.openxmlformats.org/officeDocument/2006/relationships/officeDocument" Target="/ppt/presentation.xml" Id="Rc9ab2b8255b342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9b01a8c16a148a1"/>
  </p:sldMasterIdLst>
  <p:notesMasterIdLst>
    <p:notesMasterId xmlns:r="http://schemas.openxmlformats.org/officeDocument/2006/relationships" r:id="R2b4e7bef3a654cd4"/>
  </p:notesMasterIdLst>
  <p:sldIdLst>
    <p:sldId xmlns:r="http://schemas.openxmlformats.org/officeDocument/2006/relationships" id="256" r:id="R090fd05bc8c44833"/>
    <p:sldId xmlns:r="http://schemas.openxmlformats.org/officeDocument/2006/relationships" id="257" r:id="R5f1f97c1258f4d22"/>
    <p:sldId xmlns:r="http://schemas.openxmlformats.org/officeDocument/2006/relationships" id="258" r:id="Rdeb5135c72494fcf"/>
    <p:sldId xmlns:r="http://schemas.openxmlformats.org/officeDocument/2006/relationships" id="259" r:id="R72341b57332d4b2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1a715b4a5149aa" /><Relationship Type="http://schemas.openxmlformats.org/officeDocument/2006/relationships/slideMaster" Target="/ppt/slideMasters/slideMaster1.xml" Id="R29b01a8c16a148a1" /><Relationship Type="http://schemas.openxmlformats.org/officeDocument/2006/relationships/notesMaster" Target="/ppt/notesMasters/notesMaster1.xml" Id="R2b4e7bef3a654cd4" /><Relationship Type="http://schemas.openxmlformats.org/officeDocument/2006/relationships/presProps" Target="/ppt/presProps.xml" Id="Rf832dac5ca9f4c1e" /><Relationship Type="http://schemas.openxmlformats.org/officeDocument/2006/relationships/tableStyles" Target="/ppt/tableStyles.xml" Id="R4a13bd35a3754305" /><Relationship Type="http://schemas.openxmlformats.org/officeDocument/2006/relationships/slide" Target="/ppt/slides/slide1.xml" Id="R090fd05bc8c44833" /><Relationship Type="http://schemas.openxmlformats.org/officeDocument/2006/relationships/slide" Target="/ppt/slides/slide2.xml" Id="R5f1f97c1258f4d22" /><Relationship Type="http://schemas.openxmlformats.org/officeDocument/2006/relationships/slide" Target="/ppt/slides/slide3.xml" Id="Rdeb5135c72494fcf" /><Relationship Type="http://schemas.openxmlformats.org/officeDocument/2006/relationships/slide" Target="/ppt/slides/slide4.xml" Id="R72341b57332d4b2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71398f328c4a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0f92e5ef6a41c9" /><Relationship Type="http://schemas.openxmlformats.org/officeDocument/2006/relationships/notesMaster" Target="/ppt/notesMasters/notesMaster1.xml" Id="R8649a3633852457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b4cd23f0ac459f" /><Relationship Type="http://schemas.openxmlformats.org/officeDocument/2006/relationships/notesMaster" Target="/ppt/notesMasters/notesMaster1.xml" Id="R3f904d3fa369491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d49325bf769435c" /><Relationship Type="http://schemas.openxmlformats.org/officeDocument/2006/relationships/notesMaster" Target="/ppt/notesMasters/notesMaster1.xml" Id="Re7e2e0b2451741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ccb18ab22a4442b" /><Relationship Type="http://schemas.openxmlformats.org/officeDocument/2006/relationships/notesMaster" Target="/ppt/notesMasters/notesMaster1.xml" Id="Rbe0dc88194b345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aac85462f24f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089765744cd4645" /><Relationship Type="http://schemas.openxmlformats.org/officeDocument/2006/relationships/slideLayout" Target="/ppt/slideLayouts/slideLayout1.xml" Id="R5ab2c26b9bde425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b2c26b9bde425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ad98ae1faa4f32" /><Relationship Type="http://schemas.openxmlformats.org/officeDocument/2006/relationships/image" Target="/ppt/media/image.png" Id="R5f37136bdebb41eb" /><Relationship Type="http://schemas.openxmlformats.org/officeDocument/2006/relationships/notesSlide" Target="/ppt/notesSlides/notesSlide1.xml" Id="R1624eae866d9432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79f7fad6604584" /><Relationship Type="http://schemas.openxmlformats.org/officeDocument/2006/relationships/image" Target="/ppt/media/image2.png" Id="Ra96583f9685a47a8" /><Relationship Type="http://schemas.openxmlformats.org/officeDocument/2006/relationships/notesSlide" Target="/ppt/notesSlides/notesSlide2.xml" Id="R72a0be9a0f2b43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2bbe815a4545b1" /><Relationship Type="http://schemas.openxmlformats.org/officeDocument/2006/relationships/image" Target="/ppt/media/image3.png" Id="R2b49305dd6924759" /><Relationship Type="http://schemas.openxmlformats.org/officeDocument/2006/relationships/image" Target="/ppt/media/image4.png" Id="R2ba38bd0a6e14fb2" /><Relationship Type="http://schemas.openxmlformats.org/officeDocument/2006/relationships/notesSlide" Target="/ppt/notesSlides/notesSlide3.xml" Id="R53ca304eabcf421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3750df82274fca" /><Relationship Type="http://schemas.openxmlformats.org/officeDocument/2006/relationships/notesSlide" Target="/ppt/notesSlides/notesSlide4.xml" Id="R4bfaa98eb8024f1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07AC70-2A16-4B29-8166-78E623B5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477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43642"/>
                </a:solidFill>
              </a:defRPr>
            </a:pPr>
            <a:r>
              <a:rPr sz="2550" b="1">
                <a:solidFill>
                  <a:srgbClr val="143642"/>
                </a:solidFill>
              </a:rPr>
              <a:t>車イメージ調査の販売促進分析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97C5CD-0C79-4E8B-86A2-CAC98AAA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6636D"/>
                </a:solidFill>
              </a:defRPr>
            </a:pPr>
            <a:r>
              <a:rPr sz="1125">
                <a:solidFill>
                  <a:srgbClr val="56636D"/>
                </a:solidFill>
              </a:rPr>
              <a:t>image_tyousa.csv: A-J車種の印象語10項目をPCAで整理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4FF138-FD04-40F5-BAB6-42199E82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362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83C83E-260E-41EE-9CC0-B7E8783E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36074F-4E06-4E47-91FB-5531A671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9070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6636D"/>
                </a:solidFill>
              </a:defRPr>
            </a:pPr>
            <a:r>
              <a:rPr sz="1050" b="1">
                <a:solidFill>
                  <a:srgbClr val="56636D"/>
                </a:solidFill>
              </a:rPr>
              <a:t>PC1寄与率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14BF27-7811-40FC-9E5D-B98DC555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47875"/>
            <a:ext cx="1885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3642"/>
                </a:solidFill>
              </a:defRPr>
            </a:pPr>
            <a:r>
              <a:rPr sz="2100" b="1">
                <a:solidFill>
                  <a:srgbClr val="143642"/>
                </a:solidFill>
              </a:rPr>
              <a:t>54.7%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890134-7E40-4322-AFB7-B2B2B649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619250"/>
            <a:ext cx="2362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8F1D04-9FE3-4ACD-B71D-9EE4CFC1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6192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C46A"/>
          </a:solidFill>
          <a:ln xmlns:a="http://schemas.openxmlformats.org/drawingml/2006/main" w="0">
            <a:solidFill>
              <a:srgbClr val="E9C4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971DB7-C232-400F-9EFB-8A7DFC0B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79070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6636D"/>
                </a:solidFill>
              </a:defRPr>
            </a:pPr>
            <a:r>
              <a:rPr sz="1050" b="1">
                <a:solidFill>
                  <a:srgbClr val="56636D"/>
                </a:solidFill>
              </a:rPr>
              <a:t>PC2寄与率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EAA959-B2AC-4226-B97C-A4C2826F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47875"/>
            <a:ext cx="1885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3642"/>
                </a:solidFill>
              </a:defRPr>
            </a:pPr>
            <a:r>
              <a:rPr sz="2100" b="1">
                <a:solidFill>
                  <a:srgbClr val="143642"/>
                </a:solidFill>
              </a:rPr>
              <a:t>25.6%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8C3FBE-A0FE-4D61-8C35-908E4BB4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619250"/>
            <a:ext cx="2362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C1CF48-29A7-48CD-87A1-5EE26773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6192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9BC60-14D0-4020-BAD7-8E9759B76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9070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6636D"/>
                </a:solidFill>
              </a:defRPr>
            </a:pPr>
            <a:r>
              <a:rPr sz="1050" b="1">
                <a:solidFill>
                  <a:srgbClr val="56636D"/>
                </a:solidFill>
              </a:rPr>
              <a:t>累積寄与率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4FE954-E881-4F17-842F-48FC2970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47875"/>
            <a:ext cx="1885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3642"/>
                </a:solidFill>
              </a:defRPr>
            </a:pPr>
            <a:r>
              <a:rPr sz="2100" b="1">
                <a:solidFill>
                  <a:srgbClr val="143642"/>
                </a:solidFill>
              </a:rPr>
              <a:t>80.3%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16A5FF-E628-46BA-A1E7-724CE2B1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・PC1は「好き・欲しい」と「ダサい・嫌い」が反対方向に出る好意度軸</a:t>
            </a:r>
          </a:p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・PC2は「プロ的・格好良い」と「一般的・初心者的」の違いを表す軸</a:t>
            </a:r>
          </a:p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・PC1+PC2で元データの80.3%を説明できる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37136bdebb41eb"/>
          <a:stretch xmlns:a="http://schemas.openxmlformats.org/drawingml/2006/main"/>
        </p:blipFill>
        <p:spPr>
          <a:xfrm xmlns:a="http://schemas.openxmlformats.org/drawingml/2006/main">
            <a:off x="6667500" y="3048000"/>
            <a:ext cx="4286250" cy="28575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6142B0-3C33-4F1A-9D91-6823F776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58C"/>
                </a:solidFill>
              </a:defRPr>
            </a:pPr>
            <a:r>
              <a:rPr sz="825">
                <a:solidFill>
                  <a:srgbClr val="7A858C"/>
                </a:solidFill>
              </a:rPr>
              <a:t>17-7C | R prcomp(scale.=TRUE) による主成分分析</a:t>
            </a:r>
          </a:p>
        </p:txBody>
      </p:sp>
    </p:spTree>
    <p:extLst>
      <p:ext uri="{BB962C8B-B14F-4D97-AF65-F5344CB8AC3E}">
        <p14:creationId xmlns:p14="http://schemas.microsoft.com/office/powerpoint/2010/main" val="2001270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D4136D-12F5-4A8C-B049-451BBE334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477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43642"/>
                </a:solidFill>
              </a:defRPr>
            </a:pPr>
            <a:r>
              <a:rPr sz="2550" b="1">
                <a:solidFill>
                  <a:srgbClr val="143642"/>
                </a:solidFill>
              </a:rPr>
              <a:t>元データの確認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ECBEBC-BD6D-4B17-9055-F70D83CA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6636D"/>
                </a:solidFill>
              </a:defRPr>
            </a:pPr>
            <a:r>
              <a:rPr sz="1125">
                <a:solidFill>
                  <a:srgbClr val="56636D"/>
                </a:solidFill>
              </a:rPr>
              <a:t>各対象の得点・人数を比較し、PCA解釈の前提を確認する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552450" y="1257300"/>
          <a:ext xmlns:a="http://schemas.openxmlformats.org/drawingml/2006/main" cx="10572750" cy="2190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961159"/>
                <a:gridCol w="961159"/>
                <a:gridCol w="961159"/>
                <a:gridCol w="961159"/>
                <a:gridCol w="961159"/>
                <a:gridCol w="961159"/>
                <a:gridCol w="961159"/>
                <a:gridCol w="961159"/>
                <a:gridCol w="961159"/>
                <a:gridCol w="961159"/>
                <a:gridCol w="961159"/>
              </a:tblGrid>
              <a:tr h="199159">
                <a:tc>
                  <a:txBody>
                    <a:bodyPr/>
                    <a:lstStyle/>
                    <a:p>
                      <a:r>
                        <a:rPr sz="525" b="1">
                          <a:solidFill>
                            <a:srgbClr val="FFFFFF"/>
                          </a:solidFill>
                        </a:rPr>
                        <a:t>kuruma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525" b="1">
                          <a:solidFill>
                            <a:srgbClr val="FFFFFF"/>
                          </a:solidFill>
                        </a:rPr>
                        <a:t>puro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525" b="1">
                          <a:solidFill>
                            <a:srgbClr val="FFFFFF"/>
                          </a:solidFill>
                        </a:rPr>
                        <a:t>kakkoii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525" b="1">
                          <a:solidFill>
                            <a:srgbClr val="FFFFFF"/>
                          </a:solidFill>
                        </a:rPr>
                        <a:t>suki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525" b="1">
                          <a:solidFill>
                            <a:srgbClr val="FFFFFF"/>
                          </a:solidFill>
                        </a:rPr>
                        <a:t>kawaii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525" b="1">
                          <a:solidFill>
                            <a:srgbClr val="FFFFFF"/>
                          </a:solidFill>
                        </a:rPr>
                        <a:t>ippanteki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525" b="1">
                          <a:solidFill>
                            <a:srgbClr val="FFFFFF"/>
                          </a:solidFill>
                        </a:rPr>
                        <a:t>miha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525" b="1">
                          <a:solidFill>
                            <a:srgbClr val="FFFFFF"/>
                          </a:solidFill>
                        </a:rPr>
                        <a:t>syoshinsya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525" b="1">
                          <a:solidFill>
                            <a:srgbClr val="FFFFFF"/>
                          </a:solidFill>
                        </a:rPr>
                        <a:t>dasai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525" b="1">
                          <a:solidFill>
                            <a:srgbClr val="FFFFFF"/>
                          </a:solidFill>
                        </a:rPr>
                        <a:t>kirai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525" b="1">
                          <a:solidFill>
                            <a:srgbClr val="FFFFFF"/>
                          </a:solidFill>
                        </a:rPr>
                        <a:t>hoshii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</a:tr>
              <a:tr h="199159"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33.00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15.00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38.00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11.00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71.00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94.00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7.00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4.00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8.00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37.00</a:t>
                      </a:r>
                    </a:p>
                  </a:txBody>
                  <a:tcPr marL="91440" marR="91440" marT="45720" marB="45720"/>
                </a:tc>
              </a:tr>
              <a:tr h="199159"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B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6.00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24.00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18.00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75.00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46.00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29.00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5.00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5.00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10.00</a:t>
                      </a:r>
                    </a:p>
                  </a:txBody>
                  <a:tcPr marL="91440" marR="91440" marT="45720" marB="45720"/>
                </a:tc>
              </a:tr>
              <a:tr h="199159"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67.00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5.00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18.00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3.00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4.00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25.00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24.00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24.00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14.00</a:t>
                      </a:r>
                    </a:p>
                  </a:txBody>
                  <a:tcPr marL="91440" marR="91440" marT="45720" marB="45720"/>
                </a:tc>
              </a:tr>
              <a:tr h="199159"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25.00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5.00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33.00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4.00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40.00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40.00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23.00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8.00</a:t>
                      </a:r>
                    </a:p>
                  </a:txBody>
                  <a:tcPr marL="91440" marR="91440" marT="45720" marB="45720"/>
                </a:tc>
              </a:tr>
              <a:tr h="199159"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52.00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32.00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24.00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5.00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32.00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32.00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11.00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11.00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5.00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35.00</a:t>
                      </a:r>
                    </a:p>
                  </a:txBody>
                  <a:tcPr marL="91440" marR="91440" marT="45720" marB="45720"/>
                </a:tc>
              </a:tr>
              <a:tr h="199159"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F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23.00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7.00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32.00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32.00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15.00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11.00</a:t>
                      </a:r>
                    </a:p>
                  </a:txBody>
                  <a:tcPr marL="91440" marR="91440" marT="45720" marB="45720"/>
                </a:tc>
              </a:tr>
              <a:tr h="199159"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32.00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13.00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23.00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23.00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16.00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9.00</a:t>
                      </a:r>
                    </a:p>
                  </a:txBody>
                  <a:tcPr marL="91440" marR="91440" marT="45720" marB="45720"/>
                </a:tc>
              </a:tr>
              <a:tr h="199159"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H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48.00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26.00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24.00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3.00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32.00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32.00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21.00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23.00</a:t>
                      </a:r>
                    </a:p>
                  </a:txBody>
                  <a:tcPr marL="91440" marR="91440" marT="45720" marB="45720"/>
                </a:tc>
              </a:tr>
              <a:tr h="199159"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27.00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14.00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18.00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7.00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7.00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9.00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9.00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11.00</a:t>
                      </a:r>
                    </a:p>
                  </a:txBody>
                  <a:tcPr marL="91440" marR="91440" marT="45720" marB="45720"/>
                </a:tc>
              </a:tr>
              <a:tr h="199159"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J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41.00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25.00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20.00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4.00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8.00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8.00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525">
                          <a:solidFill>
                            <a:srgbClr val="1C2A32"/>
                          </a:solidFill>
                        </a:rPr>
                        <a:t>17.00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6583f9685a47a8"/>
          <a:stretch xmlns:a="http://schemas.openxmlformats.org/drawingml/2006/main"/>
        </p:blipFill>
        <p:spPr>
          <a:xfrm xmlns:a="http://schemas.openxmlformats.org/drawingml/2006/main">
            <a:off x="4429125" y="3505200"/>
            <a:ext cx="333375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00F462-2EB7-48C2-88AA-37995A05D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・Aは一般的・ミーハー・好き・欲しいが高く、量販向きの印象が強い。</a:t>
            </a:r>
          </a:p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・Cはプロ的が高い一方、好き・欲しいは弱い。F/Gは初心者的・ダサい側が目立つ。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42DB0F-AF61-423F-A61B-F971B0443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58C"/>
                </a:solidFill>
              </a:defRPr>
            </a:pPr>
            <a:r>
              <a:rPr sz="825">
                <a:solidFill>
                  <a:srgbClr val="7A858C"/>
                </a:solidFill>
              </a:rPr>
              <a:t>17-7C | R prcomp(scale.=TRUE) による主成分分析</a:t>
            </a:r>
          </a:p>
        </p:txBody>
      </p:sp>
    </p:spTree>
    <p:extLst>
      <p:ext uri="{BB962C8B-B14F-4D97-AF65-F5344CB8AC3E}">
        <p14:creationId xmlns:p14="http://schemas.microsoft.com/office/powerpoint/2010/main" val="5799838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2B5BB2-531D-4021-98A8-5CE85AB6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477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43642"/>
                </a:solidFill>
              </a:defRPr>
            </a:pPr>
            <a:r>
              <a:rPr sz="2550" b="1">
                <a:solidFill>
                  <a:srgbClr val="143642"/>
                </a:solidFill>
              </a:rPr>
              <a:t>主成分得点と負荷量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A38589-F287-4E95-B7CC-4DCA84371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6636D"/>
                </a:solidFill>
              </a:defRPr>
            </a:pPr>
            <a:r>
              <a:rPr sz="1125">
                <a:solidFill>
                  <a:srgbClr val="56636D"/>
                </a:solidFill>
              </a:rPr>
              <a:t>第1主成分と第2主成分の位置関係から特徴を読む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49305dd6924759"/>
          <a:stretch xmlns:a="http://schemas.openxmlformats.org/drawingml/2006/main"/>
        </p:blipFill>
        <p:spPr>
          <a:xfrm xmlns:a="http://schemas.openxmlformats.org/drawingml/2006/main">
            <a:off x="552450" y="1475105"/>
            <a:ext cx="5334000" cy="3698240"/>
          </a:xfrm>
          <a:prstGeom xmlns:a="http://schemas.openxmlformats.org/drawingml/2006/main" prst="rect">
            <a:avLst/>
          </a:prstGeom>
        </p:spPr>
      </p:pic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a38bd0a6e14fb2"/>
          <a:stretch xmlns:a="http://schemas.openxmlformats.org/drawingml/2006/main"/>
        </p:blipFill>
        <p:spPr>
          <a:xfrm xmlns:a="http://schemas.openxmlformats.org/drawingml/2006/main">
            <a:off x="6286500" y="1430431"/>
            <a:ext cx="4953000" cy="3787588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DB82AD-9810-469F-804E-2967D3A2E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72125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・左側ほど好意・購買意向が強く、右側ほど否定的印象が強い。下側はプロ・格好良い寄りに読める。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ED63FC-1AD1-4201-AB24-322C753A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58C"/>
                </a:solidFill>
              </a:defRPr>
            </a:pPr>
            <a:r>
              <a:rPr sz="825">
                <a:solidFill>
                  <a:srgbClr val="7A858C"/>
                </a:solidFill>
              </a:rPr>
              <a:t>17-7C | R prcomp(scale.=TRUE) による主成分分析</a:t>
            </a:r>
          </a:p>
        </p:txBody>
      </p:sp>
    </p:spTree>
    <p:extLst>
      <p:ext uri="{BB962C8B-B14F-4D97-AF65-F5344CB8AC3E}">
        <p14:creationId xmlns:p14="http://schemas.microsoft.com/office/powerpoint/2010/main" val="26297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83B8C6-67E4-4682-88AC-96679D38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477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43642"/>
                </a:solidFill>
              </a:defRPr>
            </a:pPr>
            <a:r>
              <a:rPr sz="2550" b="1">
                <a:solidFill>
                  <a:srgbClr val="143642"/>
                </a:solidFill>
              </a:rPr>
              <a:t>解釈と提案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A99F59-7634-4F13-81F4-BF7278A2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6636D"/>
                </a:solidFill>
              </a:defRPr>
            </a:pPr>
            <a:r>
              <a:rPr sz="1125">
                <a:solidFill>
                  <a:srgbClr val="56636D"/>
                </a:solidFill>
              </a:rPr>
              <a:t>分析担当としての結論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F24CDB-A75A-4D1F-9047-54EB5C5A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5334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・販売促進の中心候補はA。認知されやすく、好意度と購買意向が高い。</a:t>
            </a:r>
          </a:p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・EとHは格好良さや欲しい印象を補助訴求として使える。</a:t>
            </a:r>
          </a:p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・Cはプロ的印象を活かした専門性・こだわり訴求が向くが、欲しい印象の弱さを補う必要がある。</a:t>
            </a:r>
          </a:p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・F/G/Dは初心者的・ダサい・嫌い側の印象が強く、改善またはターゲット再設定が必要。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667500" y="1238250"/>
          <a:ext xmlns:a="http://schemas.openxmlformats.org/drawingml/2006/main" cx="4000500" cy="2476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333500"/>
                <a:gridCol w="1333500"/>
                <a:gridCol w="1333500"/>
              </a:tblGrid>
              <a:tr h="225136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kuruma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PC1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PC2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</a:tr>
              <a:tr h="2251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-4.33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0.48</a:t>
                      </a:r>
                    </a:p>
                  </a:txBody>
                  <a:tcPr marL="91440" marR="91440" marT="45720" marB="45720"/>
                </a:tc>
              </a:tr>
              <a:tr h="2251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B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-1.91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3.45</a:t>
                      </a:r>
                    </a:p>
                  </a:txBody>
                  <a:tcPr marL="91440" marR="91440" marT="45720" marB="45720"/>
                </a:tc>
              </a:tr>
              <a:tr h="2251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1.96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-1.08</a:t>
                      </a:r>
                    </a:p>
                  </a:txBody>
                  <a:tcPr marL="91440" marR="91440" marT="45720" marB="45720"/>
                </a:tc>
              </a:tr>
              <a:tr h="2251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2.88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1.47</a:t>
                      </a:r>
                    </a:p>
                  </a:txBody>
                  <a:tcPr marL="91440" marR="91440" marT="45720" marB="45720"/>
                </a:tc>
              </a:tr>
              <a:tr h="2251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-2.13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-1.74</a:t>
                      </a:r>
                    </a:p>
                  </a:txBody>
                  <a:tcPr marL="91440" marR="91440" marT="45720" marB="45720"/>
                </a:tc>
              </a:tr>
              <a:tr h="2251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F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2.39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0.74</a:t>
                      </a:r>
                    </a:p>
                  </a:txBody>
                  <a:tcPr marL="91440" marR="91440" marT="45720" marB="45720"/>
                </a:tc>
              </a:tr>
              <a:tr h="2251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1.89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-0.19</a:t>
                      </a:r>
                    </a:p>
                  </a:txBody>
                  <a:tcPr marL="91440" marR="91440" marT="45720" marB="45720"/>
                </a:tc>
              </a:tr>
              <a:tr h="2251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H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-0.85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-1.55</a:t>
                      </a:r>
                    </a:p>
                  </a:txBody>
                  <a:tcPr marL="91440" marR="91440" marT="45720" marB="45720"/>
                </a:tc>
              </a:tr>
              <a:tr h="2251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0.30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-0.38</a:t>
                      </a:r>
                    </a:p>
                  </a:txBody>
                  <a:tcPr marL="91440" marR="91440" marT="45720" marB="45720"/>
                </a:tc>
              </a:tr>
              <a:tr h="225136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J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-0.19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-1.20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graphicFrame>
        <p:nvGraphicFramePr>
          <p:cNvPr id="11" name=""/>
          <p:cNvGraphicFramePr/>
          <p:nvPr/>
        </p:nvGraphicFramePr>
        <p:xfrm>
          <a:off xmlns:a="http://schemas.openxmlformats.org/drawingml/2006/main" x="6667500" y="4076700"/>
          <a:ext xmlns:a="http://schemas.openxmlformats.org/drawingml/2006/main" cx="4000500" cy="2095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333500"/>
                <a:gridCol w="1333500"/>
                <a:gridCol w="1333500"/>
              </a:tblGrid>
              <a:tr h="1905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FFFFFF"/>
                          </a:solidFill>
                        </a:rPr>
                        <a:t>variable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FFFFFF"/>
                          </a:solidFill>
                        </a:rPr>
                        <a:t>PC1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FFFFFF"/>
                          </a:solidFill>
                        </a:rPr>
                        <a:t>PC2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puro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0.01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-0.52</a:t>
                      </a:r>
                    </a:p>
                  </a:txBody>
                  <a:tcPr marL="91440" marR="91440" marT="45720" marB="45720"/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kakkoii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-0.21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-0.44</a:t>
                      </a:r>
                    </a:p>
                  </a:txBody>
                  <a:tcPr marL="91440" marR="91440" marT="45720" marB="45720"/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suki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-0.41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-0.02</a:t>
                      </a:r>
                    </a:p>
                  </a:txBody>
                  <a:tcPr marL="91440" marR="91440" marT="45720" marB="45720"/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kawaii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-0.31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0.39</a:t>
                      </a:r>
                    </a:p>
                  </a:txBody>
                  <a:tcPr marL="91440" marR="91440" marT="45720" marB="45720"/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ippanteki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-0.32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0.34</a:t>
                      </a:r>
                    </a:p>
                  </a:txBody>
                  <a:tcPr marL="91440" marR="91440" marT="45720" marB="45720"/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miha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-0.39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0.13</a:t>
                      </a:r>
                    </a:p>
                  </a:txBody>
                  <a:tcPr marL="91440" marR="91440" marT="45720" marB="45720"/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syoshinsya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0.29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0.38</a:t>
                      </a:r>
                    </a:p>
                  </a:txBody>
                  <a:tcPr marL="91440" marR="91440" marT="45720" marB="45720"/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dasai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0.37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0.07</a:t>
                      </a:r>
                    </a:p>
                  </a:txBody>
                  <a:tcPr marL="91440" marR="91440" marT="45720" marB="45720"/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kirai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0.31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-0.14</a:t>
                      </a:r>
                    </a:p>
                  </a:txBody>
                  <a:tcPr marL="91440" marR="91440" marT="45720" marB="45720"/>
                </a:tc>
              </a:tr>
              <a:tr h="190500"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hoshii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-0.34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600">
                          <a:solidFill>
                            <a:srgbClr val="1C2A32"/>
                          </a:solidFill>
                        </a:rPr>
                        <a:t>-0.27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B94148-651C-4F2A-9CEE-1BEAA27E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58C"/>
                </a:solidFill>
              </a:defRPr>
            </a:pPr>
            <a:r>
              <a:rPr sz="825">
                <a:solidFill>
                  <a:srgbClr val="7A858C"/>
                </a:solidFill>
              </a:rPr>
              <a:t>17-7C | R prcomp(scale.=TRUE) による主成分分析</a:t>
            </a:r>
          </a:p>
        </p:txBody>
      </p:sp>
    </p:spTree>
    <p:extLst>
      <p:ext uri="{BB962C8B-B14F-4D97-AF65-F5344CB8AC3E}">
        <p14:creationId xmlns:p14="http://schemas.microsoft.com/office/powerpoint/2010/main" val="13592880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2026-06-17T02:34:17.8190000Z</dcterms:created>
  <dcterms:modified xsi:type="dcterms:W3CDTF">2026-06-17T02:34:17.8190000Z</dcterms:modified>
</coreProperties>
</file>