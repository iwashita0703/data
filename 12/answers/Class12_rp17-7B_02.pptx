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b6e1b5d0e04992" /><Relationship Type="http://schemas.openxmlformats.org/officeDocument/2006/relationships/extended-properties" Target="/docProps/app.xml" Id="Rbf6e785af87f4e13" /><Relationship Type="http://schemas.openxmlformats.org/officeDocument/2006/relationships/officeDocument" Target="/ppt/presentation.xml" Id="R6a7815c7b41e48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9374ad9df8432f"/>
  </p:sldMasterIdLst>
  <p:notesMasterIdLst>
    <p:notesMasterId xmlns:r="http://schemas.openxmlformats.org/officeDocument/2006/relationships" r:id="Rdd39883770ea4089"/>
  </p:notesMasterIdLst>
  <p:sldIdLst>
    <p:sldId xmlns:r="http://schemas.openxmlformats.org/officeDocument/2006/relationships" id="256" r:id="Re648539080ee4f02"/>
    <p:sldId xmlns:r="http://schemas.openxmlformats.org/officeDocument/2006/relationships" id="257" r:id="R9c678da5217e44da"/>
    <p:sldId xmlns:r="http://schemas.openxmlformats.org/officeDocument/2006/relationships" id="258" r:id="Rf00cac560fb14479"/>
    <p:sldId xmlns:r="http://schemas.openxmlformats.org/officeDocument/2006/relationships" id="259" r:id="Rd458edbef22e432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224280fd4b4a1c" /><Relationship Type="http://schemas.openxmlformats.org/officeDocument/2006/relationships/slideMaster" Target="/ppt/slideMasters/slideMaster1.xml" Id="Rb39374ad9df8432f" /><Relationship Type="http://schemas.openxmlformats.org/officeDocument/2006/relationships/notesMaster" Target="/ppt/notesMasters/notesMaster1.xml" Id="Rdd39883770ea4089" /><Relationship Type="http://schemas.openxmlformats.org/officeDocument/2006/relationships/presProps" Target="/ppt/presProps.xml" Id="R8313c78c98114d2b" /><Relationship Type="http://schemas.openxmlformats.org/officeDocument/2006/relationships/tableStyles" Target="/ppt/tableStyles.xml" Id="Rb87fb4b5f1d748c0" /><Relationship Type="http://schemas.openxmlformats.org/officeDocument/2006/relationships/slide" Target="/ppt/slides/slide1.xml" Id="Re648539080ee4f02" /><Relationship Type="http://schemas.openxmlformats.org/officeDocument/2006/relationships/slide" Target="/ppt/slides/slide2.xml" Id="R9c678da5217e44da" /><Relationship Type="http://schemas.openxmlformats.org/officeDocument/2006/relationships/slide" Target="/ppt/slides/slide3.xml" Id="Rf00cac560fb14479" /><Relationship Type="http://schemas.openxmlformats.org/officeDocument/2006/relationships/slide" Target="/ppt/slides/slide4.xml" Id="Rd458edbef22e43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4ffd6f455846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963e98d79f4a0b" /><Relationship Type="http://schemas.openxmlformats.org/officeDocument/2006/relationships/notesMaster" Target="/ppt/notesMasters/notesMaster1.xml" Id="R326f14afa0f241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87d02f60054556" /><Relationship Type="http://schemas.openxmlformats.org/officeDocument/2006/relationships/notesMaster" Target="/ppt/notesMasters/notesMaster1.xml" Id="R967eac6cbbde44a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85fc33eed74ccc" /><Relationship Type="http://schemas.openxmlformats.org/officeDocument/2006/relationships/notesMaster" Target="/ppt/notesMasters/notesMaster1.xml" Id="Rf55f569cdf454d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a3be7df3af4259" /><Relationship Type="http://schemas.openxmlformats.org/officeDocument/2006/relationships/notesMaster" Target="/ppt/notesMasters/notesMaster1.xml" Id="R8e1df433201544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5c5f36d42143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706e4eb58e4fe1" /><Relationship Type="http://schemas.openxmlformats.org/officeDocument/2006/relationships/slideLayout" Target="/ppt/slideLayouts/slideLayout1.xml" Id="Rbdb81121eaa245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b81121eaa245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bea5dc7724b86" /><Relationship Type="http://schemas.openxmlformats.org/officeDocument/2006/relationships/image" Target="/ppt/media/image.png" Id="R7bfdd8812e4542e7" /><Relationship Type="http://schemas.openxmlformats.org/officeDocument/2006/relationships/notesSlide" Target="/ppt/notesSlides/notesSlide1.xml" Id="R8ca221ef7a264a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1e9511d3643bc" /><Relationship Type="http://schemas.openxmlformats.org/officeDocument/2006/relationships/image" Target="/ppt/media/image2.png" Id="R43684715a1c94bf2" /><Relationship Type="http://schemas.openxmlformats.org/officeDocument/2006/relationships/notesSlide" Target="/ppt/notesSlides/notesSlide2.xml" Id="Re2c5663f85c140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84bfcb3394461" /><Relationship Type="http://schemas.openxmlformats.org/officeDocument/2006/relationships/image" Target="/ppt/media/image3.png" Id="R921265c1b1084460" /><Relationship Type="http://schemas.openxmlformats.org/officeDocument/2006/relationships/image" Target="/ppt/media/image4.png" Id="R53e4fad1b5804cac" /><Relationship Type="http://schemas.openxmlformats.org/officeDocument/2006/relationships/notesSlide" Target="/ppt/notesSlides/notesSlide3.xml" Id="Ra8753b6eaffa4e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b6af08e5de4936" /><Relationship Type="http://schemas.openxmlformats.org/officeDocument/2006/relationships/notesSlide" Target="/ppt/notesSlides/notesSlide4.xml" Id="Rd6d056c14c6b406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D26873-D8C6-41A5-8D8A-DB21C8CB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同価格帯7車種の評価分析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65437D-8955-4B8F-AA38-7F1B6431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kuruma.csv: 動力性能・居住性・デザイン評価人数をPCAで整理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FA7F48-4500-410B-9AD2-858A7739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CCA02E-0A4C-4635-B542-C47F117B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solidFill>
              <a:srgbClr val="2A9D8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84A71-7149-4446-8F70-22556901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PC1寄与率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1738E-6265-45F2-9C3C-C6D9C668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66.0%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F43FD-1D27-45FB-BD46-CBC1BB46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84D84-AEF9-4212-8E26-B2A76386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C46A"/>
          </a:solidFill>
          <a:ln xmlns:a="http://schemas.openxmlformats.org/drawingml/2006/main" w="0">
            <a:solidFill>
              <a:srgbClr val="E9C4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5BAB7E-37ED-4206-BF6D-219046488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PC2寄与率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9F41C-B362-43C5-A457-4897207B9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33.2%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E391C1-693E-4DA8-9DBB-FC0DBC1A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19250"/>
            <a:ext cx="23622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3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E0D5B6-E650-495F-BBBB-C2F9793C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1925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F51"/>
          </a:solidFill>
          <a:ln xmlns:a="http://schemas.openxmlformats.org/drawingml/2006/main" w="0">
            <a:solidFill>
              <a:srgbClr val="E76F5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301E29-CE88-4EF0-859B-ED110208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90700"/>
            <a:ext cx="1885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6636D"/>
                </a:solidFill>
              </a:defRPr>
            </a:pPr>
            <a:r>
              <a:rPr sz="1050" b="1">
                <a:solidFill>
                  <a:srgbClr val="56636D"/>
                </a:solidFill>
              </a:rPr>
              <a:t>累積寄与率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61DE2F-1681-4E51-927D-F982EDC9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47875"/>
            <a:ext cx="1885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3642"/>
                </a:solidFill>
              </a:defRPr>
            </a:pPr>
            <a:r>
              <a:rPr sz="2100" b="1">
                <a:solidFill>
                  <a:srgbClr val="143642"/>
                </a:solidFill>
              </a:rPr>
              <a:t>99.2%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4B48A5-13F0-401B-8631-7B1042FE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・PC1は動力性能・居住性が大きく、総合性能を表す軸と解釈できる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・PC2はデザイン評価の違いを強く表す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・PC1+PC2で元データの99.2%を説明できる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fdd8812e4542e7"/>
          <a:stretch xmlns:a="http://schemas.openxmlformats.org/drawingml/2006/main"/>
        </p:blipFill>
        <p:spPr>
          <a:xfrm xmlns:a="http://schemas.openxmlformats.org/drawingml/2006/main">
            <a:off x="6667500" y="3048000"/>
            <a:ext cx="4286250" cy="285750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6B6C05-4247-4733-BAA0-E71470BA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17-7B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6513839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2CE71D-D7A8-4B75-BD92-B12DA835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元データの確認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162F4-53DC-4322-BD7B-48C23143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各対象の得点・人数を比較し、PCA解釈の前提を確認する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552450" y="1352550"/>
          <a:ext xmlns:a="http://schemas.openxmlformats.org/drawingml/2006/main" cx="5619750" cy="3238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04938"/>
                <a:gridCol w="1404938"/>
                <a:gridCol w="1404938"/>
                <a:gridCol w="1404938"/>
              </a:tblGrid>
              <a:tr h="40481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syasyu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douryokuseinou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kyojyuusei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dezain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60.00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25.00</a:t>
                      </a:r>
                    </a:p>
                  </a:txBody>
                  <a:tcPr marL="91440" marR="91440" marT="45720" marB="45720"/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40.00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75.00</a:t>
                      </a:r>
                    </a:p>
                  </a:txBody>
                  <a:tcPr marL="91440" marR="91440" marT="45720" marB="45720"/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74.00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68.00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50.00</a:t>
                      </a:r>
                    </a:p>
                  </a:txBody>
                  <a:tcPr marL="91440" marR="91440" marT="45720" marB="45720"/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30.00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40.00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60.00</a:t>
                      </a:r>
                    </a:p>
                  </a:txBody>
                  <a:tcPr marL="91440" marR="91440" marT="45720" marB="45720"/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70.00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50.00</a:t>
                      </a:r>
                    </a:p>
                  </a:txBody>
                  <a:tcPr marL="91440" marR="91440" marT="45720" marB="45720"/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90.00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95.00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80.00</a:t>
                      </a:r>
                    </a:p>
                  </a:txBody>
                  <a:tcPr marL="91440" marR="91440" marT="45720" marB="45720"/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50.00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45.00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684715a1c94bf2"/>
          <a:stretch xmlns:a="http://schemas.openxmlformats.org/drawingml/2006/main"/>
        </p:blipFill>
        <p:spPr>
          <a:xfrm xmlns:a="http://schemas.openxmlformats.org/drawingml/2006/main">
            <a:off x="6286500" y="1562100"/>
            <a:ext cx="5334000" cy="3200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34450-FB0A-47C9-A665-3B220E8C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・Fは3項目すべてが高く、総合評価で最も強い。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・BとDはデザイン評価が相対的に高いが、性能・居住性は低め。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D535B1-7E8D-4486-8BFD-53DF6089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17-7B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14154713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954F97-818F-4AE5-8357-4056BEFA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主成分得点と負荷量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E74D7-3330-4E6A-A795-21B86F43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第1主成分と第2主成分の位置関係から特徴を読む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1265c1b1084460"/>
          <a:stretch xmlns:a="http://schemas.openxmlformats.org/drawingml/2006/main"/>
        </p:blipFill>
        <p:spPr>
          <a:xfrm xmlns:a="http://schemas.openxmlformats.org/drawingml/2006/main">
            <a:off x="552450" y="1475105"/>
            <a:ext cx="5334000" cy="3698240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4fad1b5804cac"/>
          <a:stretch xmlns:a="http://schemas.openxmlformats.org/drawingml/2006/main"/>
        </p:blipFill>
        <p:spPr>
          <a:xfrm xmlns:a="http://schemas.openxmlformats.org/drawingml/2006/main">
            <a:off x="6286500" y="1430431"/>
            <a:ext cx="4953000" cy="378758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B3320-210A-4E85-9F74-5CF496A8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72125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・左側ほど総合性能が高い。下側ほどデザイン評価寄り、上側ほど性能・居住性寄りに読める。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A8ECC-5E00-4057-9E0C-DDDCD415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17-7B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2921689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B9F40C-62DA-49E2-B459-6767C4F67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8477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43642"/>
                </a:solidFill>
              </a:defRPr>
            </a:pPr>
            <a:r>
              <a:rPr sz="2550" b="1">
                <a:solidFill>
                  <a:srgbClr val="143642"/>
                </a:solidFill>
              </a:rPr>
              <a:t>解釈と提案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23DEA-3EE0-4C9D-BFD4-DA6DF754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6636D"/>
                </a:solidFill>
              </a:defRPr>
            </a:pPr>
            <a:r>
              <a:rPr sz="1125">
                <a:solidFill>
                  <a:srgbClr val="56636D"/>
                </a:solidFill>
              </a:rPr>
              <a:t>分析担当としての結論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A2E0EB-CDF5-4D66-88C8-DAC28E9F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334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・最有力はF。全項目で高く、広告でも主力として扱いやすい。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・EとCは動力性能・居住性を押し出す訴求に向いている。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・BとDはデザインを評価する層に訴求できるが、総合評価では弱い。</a:t>
            </a:r>
          </a:p>
          <a:p xmlns:a="http://schemas.openxmlformats.org/drawingml/2006/main">
            <a:pPr>
              <a:defRPr sz="1350">
                <a:solidFill>
                  <a:srgbClr val="1C2A32"/>
                </a:solidFill>
              </a:defRPr>
            </a:pPr>
            <a:r>
              <a:rPr sz="1350">
                <a:solidFill>
                  <a:srgbClr val="1C2A32"/>
                </a:solidFill>
              </a:rPr>
              <a:t>・GとAは中位で、突出点を補う追加調査が必要。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667500" y="1238250"/>
          <a:ext xmlns:a="http://schemas.openxmlformats.org/drawingml/2006/main" cx="4000500" cy="2476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33500"/>
                <a:gridCol w="1333500"/>
                <a:gridCol w="1333500"/>
              </a:tblGrid>
              <a:tr h="309563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syasyu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PC1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</a:rPr>
                        <a:t>PC2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3095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0.32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1.57</a:t>
                      </a:r>
                    </a:p>
                  </a:txBody>
                  <a:tcPr marL="91440" marR="91440" marT="45720" marB="45720"/>
                </a:tc>
              </a:tr>
              <a:tr h="3095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1.32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-1.28</a:t>
                      </a:r>
                    </a:p>
                  </a:txBody>
                  <a:tcPr marL="91440" marR="91440" marT="45720" marB="45720"/>
                </a:tc>
              </a:tr>
              <a:tr h="3095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C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-0.67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0.39</a:t>
                      </a:r>
                    </a:p>
                  </a:txBody>
                  <a:tcPr marL="91440" marR="91440" marT="45720" marB="45720"/>
                </a:tc>
              </a:tr>
              <a:tr h="3095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1.59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-0.54</a:t>
                      </a:r>
                    </a:p>
                  </a:txBody>
                  <a:tcPr marL="91440" marR="91440" marT="45720" marB="45720"/>
                </a:tc>
              </a:tr>
              <a:tr h="3095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-0.93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0.45</a:t>
                      </a:r>
                    </a:p>
                  </a:txBody>
                  <a:tcPr marL="91440" marR="91440" marT="45720" marB="45720"/>
                </a:tc>
              </a:tr>
              <a:tr h="3095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F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-2.38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-1.01</a:t>
                      </a:r>
                    </a:p>
                  </a:txBody>
                  <a:tcPr marL="91440" marR="91440" marT="45720" marB="45720"/>
                </a:tc>
              </a:tr>
              <a:tr h="30956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0.75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C2A32"/>
                          </a:solidFill>
                        </a:rPr>
                        <a:t>0.43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6667500" y="4076700"/>
          <a:ext xmlns:a="http://schemas.openxmlformats.org/drawingml/2006/main" cx="4000500" cy="1809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33500"/>
                <a:gridCol w="1333500"/>
                <a:gridCol w="1333500"/>
              </a:tblGrid>
              <a:tr h="45243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variable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PC1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PC2</a:t>
                      </a:r>
                    </a:p>
                  </a:txBody>
                  <a:tcPr marL="91440" marR="91440" marT="45720" marB="45720">
                    <a:solidFill>
                      <a:srgbClr val="143642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douryokuseinou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-0.69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0.21</a:t>
                      </a:r>
                    </a:p>
                  </a:txBody>
                  <a:tcPr marL="91440" marR="91440" marT="45720" marB="45720"/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kyojyuusei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-0.71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0.01</a:t>
                      </a:r>
                    </a:p>
                  </a:txBody>
                  <a:tcPr marL="91440" marR="91440" marT="45720" marB="45720"/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dezain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-0.15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C2A32"/>
                          </a:solidFill>
                        </a:rPr>
                        <a:t>-0.98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76325-CD12-4D08-9347-56518052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A858C"/>
                </a:solidFill>
              </a:defRPr>
            </a:pPr>
            <a:r>
              <a:rPr sz="825">
                <a:solidFill>
                  <a:srgbClr val="7A858C"/>
                </a:solidFill>
              </a:rPr>
              <a:t>17-7B | R prcomp(scale.=TRUE) による主成分分析</a:t>
            </a:r>
          </a:p>
        </p:txBody>
      </p:sp>
    </p:spTree>
    <p:extLst>
      <p:ext uri="{BB962C8B-B14F-4D97-AF65-F5344CB8AC3E}">
        <p14:creationId xmlns:p14="http://schemas.microsoft.com/office/powerpoint/2010/main" val="5946818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2026-06-17T02:34:17.4980000Z</dcterms:created>
  <dcterms:modified xsi:type="dcterms:W3CDTF">2026-06-17T02:34:17.4980000Z</dcterms:modified>
</coreProperties>
</file>