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d2fd30472b4e43" /><Relationship Type="http://schemas.openxmlformats.org/officeDocument/2006/relationships/extended-properties" Target="/docProps/app.xml" Id="R38bda26223c54ba9" /><Relationship Type="http://schemas.openxmlformats.org/officeDocument/2006/relationships/officeDocument" Target="/ppt/presentation.xml" Id="Rbd37511240ed4d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d8752767394206"/>
  </p:sldMasterIdLst>
  <p:notesMasterIdLst>
    <p:notesMasterId xmlns:r="http://schemas.openxmlformats.org/officeDocument/2006/relationships" r:id="R348874aee9cb4973"/>
  </p:notesMasterIdLst>
  <p:sldIdLst>
    <p:sldId xmlns:r="http://schemas.openxmlformats.org/officeDocument/2006/relationships" id="256" r:id="Ra568f4f728364632"/>
    <p:sldId xmlns:r="http://schemas.openxmlformats.org/officeDocument/2006/relationships" id="257" r:id="Rd9d5d55594f64df7"/>
    <p:sldId xmlns:r="http://schemas.openxmlformats.org/officeDocument/2006/relationships" id="258" r:id="Racf6d0e7b4a84f4b"/>
    <p:sldId xmlns:r="http://schemas.openxmlformats.org/officeDocument/2006/relationships" id="259" r:id="R0a827a2fa7ad44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2c5ea297544ef" /><Relationship Type="http://schemas.openxmlformats.org/officeDocument/2006/relationships/slideMaster" Target="/ppt/slideMasters/slideMaster1.xml" Id="R84d8752767394206" /><Relationship Type="http://schemas.openxmlformats.org/officeDocument/2006/relationships/notesMaster" Target="/ppt/notesMasters/notesMaster1.xml" Id="R348874aee9cb4973" /><Relationship Type="http://schemas.openxmlformats.org/officeDocument/2006/relationships/presProps" Target="/ppt/presProps.xml" Id="Rac5e50abd63e46d9" /><Relationship Type="http://schemas.openxmlformats.org/officeDocument/2006/relationships/tableStyles" Target="/ppt/tableStyles.xml" Id="Rf2bb87cd38c9466b" /><Relationship Type="http://schemas.openxmlformats.org/officeDocument/2006/relationships/slide" Target="/ppt/slides/slide1.xml" Id="Ra568f4f728364632" /><Relationship Type="http://schemas.openxmlformats.org/officeDocument/2006/relationships/slide" Target="/ppt/slides/slide2.xml" Id="Rd9d5d55594f64df7" /><Relationship Type="http://schemas.openxmlformats.org/officeDocument/2006/relationships/slide" Target="/ppt/slides/slide3.xml" Id="Racf6d0e7b4a84f4b" /><Relationship Type="http://schemas.openxmlformats.org/officeDocument/2006/relationships/slide" Target="/ppt/slides/slide4.xml" Id="R0a827a2fa7ad44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24cc61d6f141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7db81301be495c" /><Relationship Type="http://schemas.openxmlformats.org/officeDocument/2006/relationships/notesMaster" Target="/ppt/notesMasters/notesMaster1.xml" Id="R7a28e0c0619449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b4873de61247f1" /><Relationship Type="http://schemas.openxmlformats.org/officeDocument/2006/relationships/notesMaster" Target="/ppt/notesMasters/notesMaster1.xml" Id="Rd974a524c0194a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7ed6e257414999" /><Relationship Type="http://schemas.openxmlformats.org/officeDocument/2006/relationships/notesMaster" Target="/ppt/notesMasters/notesMaster1.xml" Id="R6b720707d3a041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4d2112163947f7" /><Relationship Type="http://schemas.openxmlformats.org/officeDocument/2006/relationships/notesMaster" Target="/ppt/notesMasters/notesMaster1.xml" Id="Re70f809d81c344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d65f50b1b4b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8b1cd885448af" /><Relationship Type="http://schemas.openxmlformats.org/officeDocument/2006/relationships/slideLayout" Target="/ppt/slideLayouts/slideLayout1.xml" Id="Rffb6820dff3042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6820dff3042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47fd4d5f24769" /><Relationship Type="http://schemas.openxmlformats.org/officeDocument/2006/relationships/image" Target="/ppt/media/image.png" Id="R19187c2822f64816" /><Relationship Type="http://schemas.openxmlformats.org/officeDocument/2006/relationships/notesSlide" Target="/ppt/notesSlides/notesSlide1.xml" Id="R4b4a6898fbf742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0ce8b187242d9" /><Relationship Type="http://schemas.openxmlformats.org/officeDocument/2006/relationships/image" Target="/ppt/media/image2.png" Id="Rf4dd2d8788254fc9" /><Relationship Type="http://schemas.openxmlformats.org/officeDocument/2006/relationships/notesSlide" Target="/ppt/notesSlides/notesSlide2.xml" Id="Re695fc2dc1b84e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a6f7bf21b4cd2" /><Relationship Type="http://schemas.openxmlformats.org/officeDocument/2006/relationships/image" Target="/ppt/media/image3.png" Id="R398566ee735b4fa8" /><Relationship Type="http://schemas.openxmlformats.org/officeDocument/2006/relationships/image" Target="/ppt/media/image4.png" Id="Ra817381032794884" /><Relationship Type="http://schemas.openxmlformats.org/officeDocument/2006/relationships/notesSlide" Target="/ppt/notesSlides/notesSlide3.xml" Id="R563c121426fe4d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c763f0a324f35" /><Relationship Type="http://schemas.openxmlformats.org/officeDocument/2006/relationships/notesSlide" Target="/ppt/notesSlides/notesSlide4.xml" Id="Rd912320f5bc44f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A169C8-AC37-4C8A-B92C-AC95F627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同価格帯7車種の評価分析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AF3CB-C8FA-43B7-8E52-7E31DB4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kuruma.csv: 動力性能・居住性・デザイン評価人数をPCAで整理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3EB05-54E9-4E42-AEA2-D505AF6E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5D25E-8559-4B58-A65E-0CED9D4C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BC27C-588E-42E9-8DEB-78CEE95E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PC1寄与率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A98DF-98C9-499D-AC7F-85156FF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66.0%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FFD436-BA4C-40AC-9AA7-EF7F380A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D8EE32-B4FD-4E02-92EE-F45BD5FE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547BD-8083-4CF3-8191-603648CC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PC2寄与率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12E00-4F5D-4A9D-ABDC-8BF09994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33.2%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3E19E-3586-4885-8D3F-5F0FA613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23622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0226A-115C-432F-B44C-77A08F1D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19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5B09C-0AC3-48A1-81D3-C38CB536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6636D"/>
                </a:solidFill>
              </a:defRPr>
            </a:pPr>
            <a:r>
              <a:rPr sz="1050" b="1">
                <a:solidFill>
                  <a:srgbClr val="56636D"/>
                </a:solidFill>
              </a:rPr>
              <a:t>累積寄与率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8901D3-7F7E-4740-B01F-25324ACF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47875"/>
            <a:ext cx="1885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3642"/>
                </a:solidFill>
              </a:defRPr>
            </a:pPr>
            <a:r>
              <a:rPr sz="2100" b="1">
                <a:solidFill>
                  <a:srgbClr val="143642"/>
                </a:solidFill>
              </a:rPr>
              <a:t>99.2%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8953A-9013-4706-8CC8-375A1DC0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・PC1は動力性能・居住性が大きく、総合性能を表す軸と解釈できる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・PC2はデザイン評価の違いを強く表す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・PC1+PC2で元データの99.2%を説明できる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87c2822f64816"/>
          <a:stretch xmlns:a="http://schemas.openxmlformats.org/drawingml/2006/main"/>
        </p:blipFill>
        <p:spPr>
          <a:xfrm xmlns:a="http://schemas.openxmlformats.org/drawingml/2006/main">
            <a:off x="6667500" y="3048000"/>
            <a:ext cx="4286250" cy="2857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3734C-439D-4041-99E2-F0AE672B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17-7B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2104545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FCC569-CD8B-42ED-9A18-E37F21CA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元データの確認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A6B01-F9EB-4A78-9AA9-2A475C1D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各対象の得点・人数を比較し、PCA解釈の前提を確認する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352550"/>
          <a:ext xmlns:a="http://schemas.openxmlformats.org/drawingml/2006/main" cx="561975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04938"/>
                <a:gridCol w="1404938"/>
                <a:gridCol w="1404938"/>
                <a:gridCol w="1404938"/>
              </a:tblGrid>
              <a:tr h="40481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syasyu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douryokuseinou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kyojyuusei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dezain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60.00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25.00</a:t>
                      </a:r>
                    </a:p>
                  </a:txBody>
                  <a:tcPr marL="91440" marR="91440" marT="45720" marB="45720"/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40.00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75.00</a:t>
                      </a:r>
                    </a:p>
                  </a:txBody>
                  <a:tcPr marL="91440" marR="91440" marT="45720" marB="45720"/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74.00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68.00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50.00</a:t>
                      </a:r>
                    </a:p>
                  </a:txBody>
                  <a:tcPr marL="91440" marR="91440" marT="45720" marB="45720"/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30.00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40.00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60.00</a:t>
                      </a:r>
                    </a:p>
                  </a:txBody>
                  <a:tcPr marL="91440" marR="91440" marT="45720" marB="45720"/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70.00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50.00</a:t>
                      </a:r>
                    </a:p>
                  </a:txBody>
                  <a:tcPr marL="91440" marR="91440" marT="45720" marB="45720"/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90.00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95.00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80.00</a:t>
                      </a:r>
                    </a:p>
                  </a:txBody>
                  <a:tcPr marL="91440" marR="91440" marT="45720" marB="45720"/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50.00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45.00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d2d8788254fc9"/>
          <a:stretch xmlns:a="http://schemas.openxmlformats.org/drawingml/2006/main"/>
        </p:blipFill>
        <p:spPr>
          <a:xfrm xmlns:a="http://schemas.openxmlformats.org/drawingml/2006/main">
            <a:off x="6286500" y="1562100"/>
            <a:ext cx="5334000" cy="32004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A119A-374B-4F2F-B75E-4AB3446C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・Fは3項目すべてが高く、総合評価で最も強い。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・BとDはデザイン評価が相対的に高いが、性能・居住性は低め。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4E18C-023B-4D58-9F87-9AC082E2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17-7B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10267808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39069C-6AE9-4A70-9D48-D6BE29C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主成分得点と負荷量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99068-FC3D-4A3F-BCCC-AB0DB83C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第1主成分と第2主成分の位置関係から特徴を読む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8566ee735b4fa8"/>
          <a:stretch xmlns:a="http://schemas.openxmlformats.org/drawingml/2006/main"/>
        </p:blipFill>
        <p:spPr>
          <a:xfrm xmlns:a="http://schemas.openxmlformats.org/drawingml/2006/main">
            <a:off x="552450" y="1475105"/>
            <a:ext cx="5334000" cy="369824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17381032794884"/>
          <a:stretch xmlns:a="http://schemas.openxmlformats.org/drawingml/2006/main"/>
        </p:blipFill>
        <p:spPr>
          <a:xfrm xmlns:a="http://schemas.openxmlformats.org/drawingml/2006/main">
            <a:off x="6286500" y="1430431"/>
            <a:ext cx="4953000" cy="37875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B94D9-DF6F-4ACA-B43A-99FFA8C1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・左側ほど総合性能が高い。下側ほどデザイン評価寄り、上側ほど性能・居住性寄りに読める。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87613-7554-4207-89A3-DF262EB6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17-7B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586535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C2151-C4E0-4F15-AA6B-E580252A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3642"/>
                </a:solidFill>
              </a:defRPr>
            </a:pPr>
            <a:r>
              <a:rPr sz="2550" b="1">
                <a:solidFill>
                  <a:srgbClr val="143642"/>
                </a:solidFill>
              </a:rPr>
              <a:t>解釈と提案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4953B-7A2C-4D44-8960-3A634771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636D"/>
                </a:solidFill>
              </a:defRPr>
            </a:pPr>
            <a:r>
              <a:rPr sz="1125">
                <a:solidFill>
                  <a:srgbClr val="56636D"/>
                </a:solidFill>
              </a:rPr>
              <a:t>分析担当としての結論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C56D6-AE9B-49C8-9D00-C3881650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334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・最有力はF。全項目で高く、広告でも主力として扱いやすい。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・EとCは動力性能・居住性を押し出す訴求に向いている。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・BとDはデザインを評価する層に訴求できるが、総合評価では弱い。</a:t>
            </a:r>
          </a:p>
          <a:p xmlns:a="http://schemas.openxmlformats.org/drawingml/2006/main">
            <a:pPr>
              <a:defRPr sz="1350">
                <a:solidFill>
                  <a:srgbClr val="1C2A32"/>
                </a:solidFill>
              </a:defRPr>
            </a:pPr>
            <a:r>
              <a:rPr sz="1350">
                <a:solidFill>
                  <a:srgbClr val="1C2A32"/>
                </a:solidFill>
              </a:rPr>
              <a:t>・GとAは中位で、突出点を補う追加調査が必要。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667500" y="1238250"/>
          <a:ext xmlns:a="http://schemas.openxmlformats.org/drawingml/2006/main" cx="40005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</a:tblGrid>
              <a:tr h="309563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syasyu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PC1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</a:rPr>
                        <a:t>PC2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1.57</a:t>
                      </a:r>
                    </a:p>
                  </a:txBody>
                  <a:tcPr marL="91440" marR="91440" marT="45720" marB="45720"/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-1.28</a:t>
                      </a:r>
                    </a:p>
                  </a:txBody>
                  <a:tcPr marL="91440" marR="91440" marT="45720" marB="45720"/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-0.67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0.39</a:t>
                      </a:r>
                    </a:p>
                  </a:txBody>
                  <a:tcPr marL="91440" marR="91440" marT="45720" marB="45720"/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1.59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-0.54</a:t>
                      </a:r>
                    </a:p>
                  </a:txBody>
                  <a:tcPr marL="91440" marR="91440" marT="45720" marB="45720"/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-0.93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0.45</a:t>
                      </a:r>
                    </a:p>
                  </a:txBody>
                  <a:tcPr marL="91440" marR="91440" marT="45720" marB="45720"/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-2.38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-1.01</a:t>
                      </a:r>
                    </a:p>
                  </a:txBody>
                  <a:tcPr marL="91440" marR="91440" marT="45720" marB="45720"/>
                </a:tc>
              </a:tr>
              <a:tr h="309563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C2A32"/>
                          </a:solidFill>
                        </a:rPr>
                        <a:t>0.43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0" y="4076700"/>
          <a:ext xmlns:a="http://schemas.openxmlformats.org/drawingml/2006/main" cx="400050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1333500"/>
              </a:tblGrid>
              <a:tr h="452438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PC1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PC2</a:t>
                      </a:r>
                    </a:p>
                  </a:txBody>
                  <a:tcPr marL="91440" marR="91440" marT="45720" marB="45720">
                    <a:solidFill>
                      <a:srgbClr val="143642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douryokuseinou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-0.69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0.21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kyojyuusei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-0.71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0.01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dezain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-0.15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C2A32"/>
                          </a:solidFill>
                        </a:rPr>
                        <a:t>-0.98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85524-518C-4C9A-921D-75CA68CF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A858C"/>
                </a:solidFill>
              </a:defRPr>
            </a:pPr>
            <a:r>
              <a:rPr sz="825">
                <a:solidFill>
                  <a:srgbClr val="7A858C"/>
                </a:solidFill>
              </a:rPr>
              <a:t>17-7B | R prcomp(scale.=TRUE) による主成分分析</a:t>
            </a:r>
          </a:p>
        </p:txBody>
      </p:sp>
    </p:spTree>
    <p:extLst>
      <p:ext uri="{BB962C8B-B14F-4D97-AF65-F5344CB8AC3E}">
        <p14:creationId xmlns:p14="http://schemas.microsoft.com/office/powerpoint/2010/main" val="17704808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2026-06-17T01:46:01.1960000Z</dcterms:created>
  <dcterms:modified xsi:type="dcterms:W3CDTF">2026-06-17T01:46:01.1960000Z</dcterms:modified>
</coreProperties>
</file>