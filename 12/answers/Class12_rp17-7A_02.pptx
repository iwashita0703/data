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eaace9a9774e22" /><Relationship Type="http://schemas.openxmlformats.org/officeDocument/2006/relationships/extended-properties" Target="/docProps/app.xml" Id="R53fd804362174487" /><Relationship Type="http://schemas.openxmlformats.org/officeDocument/2006/relationships/officeDocument" Target="/ppt/presentation.xml" Id="R50389c75567f40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a089d5dce943e9"/>
  </p:sldMasterIdLst>
  <p:notesMasterIdLst>
    <p:notesMasterId xmlns:r="http://schemas.openxmlformats.org/officeDocument/2006/relationships" r:id="Rb93f3aa532c54871"/>
  </p:notesMasterIdLst>
  <p:sldIdLst>
    <p:sldId xmlns:r="http://schemas.openxmlformats.org/officeDocument/2006/relationships" id="256" r:id="Rd72ee919d0c447c4"/>
    <p:sldId xmlns:r="http://schemas.openxmlformats.org/officeDocument/2006/relationships" id="257" r:id="R6f7f8269d57f41f3"/>
    <p:sldId xmlns:r="http://schemas.openxmlformats.org/officeDocument/2006/relationships" id="258" r:id="R8db387c0c9084191"/>
    <p:sldId xmlns:r="http://schemas.openxmlformats.org/officeDocument/2006/relationships" id="259" r:id="Rd11c3ed64b4748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946aaad29b4047" /><Relationship Type="http://schemas.openxmlformats.org/officeDocument/2006/relationships/slideMaster" Target="/ppt/slideMasters/slideMaster1.xml" Id="R7ea089d5dce943e9" /><Relationship Type="http://schemas.openxmlformats.org/officeDocument/2006/relationships/notesMaster" Target="/ppt/notesMasters/notesMaster1.xml" Id="Rb93f3aa532c54871" /><Relationship Type="http://schemas.openxmlformats.org/officeDocument/2006/relationships/presProps" Target="/ppt/presProps.xml" Id="R08e3085c921a4b0f" /><Relationship Type="http://schemas.openxmlformats.org/officeDocument/2006/relationships/tableStyles" Target="/ppt/tableStyles.xml" Id="R994f4b68ea98479f" /><Relationship Type="http://schemas.openxmlformats.org/officeDocument/2006/relationships/slide" Target="/ppt/slides/slide1.xml" Id="Rd72ee919d0c447c4" /><Relationship Type="http://schemas.openxmlformats.org/officeDocument/2006/relationships/slide" Target="/ppt/slides/slide2.xml" Id="R6f7f8269d57f41f3" /><Relationship Type="http://schemas.openxmlformats.org/officeDocument/2006/relationships/slide" Target="/ppt/slides/slide3.xml" Id="R8db387c0c9084191" /><Relationship Type="http://schemas.openxmlformats.org/officeDocument/2006/relationships/slide" Target="/ppt/slides/slide4.xml" Id="Rd11c3ed64b4748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777b766af64b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4ffc2f1935474a" /><Relationship Type="http://schemas.openxmlformats.org/officeDocument/2006/relationships/notesMaster" Target="/ppt/notesMasters/notesMaster1.xml" Id="Rd01af9ebe60442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406b28c36f4547" /><Relationship Type="http://schemas.openxmlformats.org/officeDocument/2006/relationships/notesMaster" Target="/ppt/notesMasters/notesMaster1.xml" Id="R8d6c73a6c35c4b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bd46e14334453b" /><Relationship Type="http://schemas.openxmlformats.org/officeDocument/2006/relationships/notesMaster" Target="/ppt/notesMasters/notesMaster1.xml" Id="Rc4bbd853278d42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ab6413d21d4134" /><Relationship Type="http://schemas.openxmlformats.org/officeDocument/2006/relationships/notesMaster" Target="/ppt/notesMasters/notesMaster1.xml" Id="R7d3ba70508d44f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20376e07054e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7a96cbffa64220" /><Relationship Type="http://schemas.openxmlformats.org/officeDocument/2006/relationships/slideLayout" Target="/ppt/slideLayouts/slideLayout1.xml" Id="R2f13859f52ba4e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13859f52ba4e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439fa3a514873" /><Relationship Type="http://schemas.openxmlformats.org/officeDocument/2006/relationships/image" Target="/ppt/media/image.png" Id="Rb2a76a8405164fd8" /><Relationship Type="http://schemas.openxmlformats.org/officeDocument/2006/relationships/notesSlide" Target="/ppt/notesSlides/notesSlide1.xml" Id="Rec0c051ba7f94c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7fe3864a94e75" /><Relationship Type="http://schemas.openxmlformats.org/officeDocument/2006/relationships/image" Target="/ppt/media/image2.png" Id="Rfa6cdc36cc2c4940" /><Relationship Type="http://schemas.openxmlformats.org/officeDocument/2006/relationships/notesSlide" Target="/ppt/notesSlides/notesSlide2.xml" Id="R67ddba2712364f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0dd0836434199" /><Relationship Type="http://schemas.openxmlformats.org/officeDocument/2006/relationships/image" Target="/ppt/media/image3.png" Id="R465c5b6152e84972" /><Relationship Type="http://schemas.openxmlformats.org/officeDocument/2006/relationships/image" Target="/ppt/media/image4.png" Id="R611daf3c2dab4a49" /><Relationship Type="http://schemas.openxmlformats.org/officeDocument/2006/relationships/notesSlide" Target="/ppt/notesSlides/notesSlide3.xml" Id="Rcd3536d57f1f4d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049e80c5c4636" /><Relationship Type="http://schemas.openxmlformats.org/officeDocument/2006/relationships/notesSlide" Target="/ppt/notesSlides/notesSlide4.xml" Id="Rcab6bb53bed541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7ED341-7FB0-437A-BFDE-71C65913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642"/>
                </a:solidFill>
              </a:defRPr>
            </a:pPr>
            <a:r>
              <a:rPr sz="2550" b="1">
                <a:solidFill>
                  <a:srgbClr val="143642"/>
                </a:solidFill>
              </a:rPr>
              <a:t>入社試験成績の分析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8E7B3-C6FD-403F-9156-DF584AAD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D"/>
                </a:solidFill>
              </a:defRPr>
            </a:pPr>
            <a:r>
              <a:rPr sz="1125">
                <a:solidFill>
                  <a:srgbClr val="56636D"/>
                </a:solidFill>
              </a:rPr>
              <a:t>nyusya_shiken.csv: 5名の試験結果を主成分分析で評価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F1447-F50A-4CAF-A54B-7E9C8C0F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362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9322C-BF80-451E-978D-6F23D86D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AFF96-45BA-4B99-AD3C-49B04BDB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6636D"/>
                </a:solidFill>
              </a:defRPr>
            </a:pPr>
            <a:r>
              <a:rPr sz="1050" b="1">
                <a:solidFill>
                  <a:srgbClr val="56636D"/>
                </a:solidFill>
              </a:rPr>
              <a:t>PC1寄与率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AE9CB-3E49-4A9C-BDD4-611A958D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642"/>
                </a:solidFill>
              </a:defRPr>
            </a:pPr>
            <a:r>
              <a:rPr sz="2100" b="1">
                <a:solidFill>
                  <a:srgbClr val="143642"/>
                </a:solidFill>
              </a:rPr>
              <a:t>56.3%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CFA34-A9CD-4FA3-BC27-F611B57A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19250"/>
            <a:ext cx="2362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F1A47-21E5-417A-90D2-34986098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19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5E82D-C646-47AE-B80F-1AFB1015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6636D"/>
                </a:solidFill>
              </a:defRPr>
            </a:pPr>
            <a:r>
              <a:rPr sz="1050" b="1">
                <a:solidFill>
                  <a:srgbClr val="56636D"/>
                </a:solidFill>
              </a:rPr>
              <a:t>PC2寄与率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EEC20-CA39-404F-8891-E2277A36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47875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642"/>
                </a:solidFill>
              </a:defRPr>
            </a:pPr>
            <a:r>
              <a:rPr sz="2100" b="1">
                <a:solidFill>
                  <a:srgbClr val="143642"/>
                </a:solidFill>
              </a:rPr>
              <a:t>38.8%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3D116-E912-4368-8E64-4EC89ED7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19250"/>
            <a:ext cx="2362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3E7BD-6DE7-467B-8B92-E943F6C4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19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553D3-8E08-47FD-A297-83C6D27E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907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6636D"/>
                </a:solidFill>
              </a:defRPr>
            </a:pPr>
            <a:r>
              <a:rPr sz="1050" b="1">
                <a:solidFill>
                  <a:srgbClr val="56636D"/>
                </a:solidFill>
              </a:rPr>
              <a:t>累積寄与率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54315-0DBF-4368-9C17-D60E98E0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47875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642"/>
                </a:solidFill>
              </a:defRPr>
            </a:pPr>
            <a:r>
              <a:rPr sz="2100" b="1">
                <a:solidFill>
                  <a:srgbClr val="143642"/>
                </a:solidFill>
              </a:rPr>
              <a:t>95.1%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1D874-8650-48E0-AFF1-EDF13637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・PC1は全科目が正方向で、総合力を表す軸と解釈できる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・PC2は専門・論文が正、英語・面接が負で、強みの種類を分ける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・PC1+PC2で元データの95.1%を説明できる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76a8405164fd8"/>
          <a:stretch xmlns:a="http://schemas.openxmlformats.org/drawingml/2006/main"/>
        </p:blipFill>
        <p:spPr>
          <a:xfrm xmlns:a="http://schemas.openxmlformats.org/drawingml/2006/main">
            <a:off x="6667500" y="3048000"/>
            <a:ext cx="4286250" cy="2857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CA113-15B4-4B8B-8177-38901863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58C"/>
                </a:solidFill>
              </a:defRPr>
            </a:pPr>
            <a:r>
              <a:rPr sz="825">
                <a:solidFill>
                  <a:srgbClr val="7A858C"/>
                </a:solidFill>
              </a:rPr>
              <a:t>17-7A | R prcomp(scale.=TRUE) による主成分分析</a:t>
            </a:r>
          </a:p>
        </p:txBody>
      </p:sp>
    </p:spTree>
    <p:extLst>
      <p:ext uri="{BB962C8B-B14F-4D97-AF65-F5344CB8AC3E}">
        <p14:creationId xmlns:p14="http://schemas.microsoft.com/office/powerpoint/2010/main" val="628257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95EC66-77FE-45DC-8118-5B550ED3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642"/>
                </a:solidFill>
              </a:defRPr>
            </a:pPr>
            <a:r>
              <a:rPr sz="2550" b="1">
                <a:solidFill>
                  <a:srgbClr val="143642"/>
                </a:solidFill>
              </a:rPr>
              <a:t>元データの確認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51C1D-FB58-479A-A708-8203BDF8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D"/>
                </a:solidFill>
              </a:defRPr>
            </a:pPr>
            <a:r>
              <a:rPr sz="1125">
                <a:solidFill>
                  <a:srgbClr val="56636D"/>
                </a:solidFill>
              </a:rPr>
              <a:t>各対象の得点・人数を比較し、PCA解釈の前提を確認する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52450" y="1352550"/>
          <a:ext xmlns:a="http://schemas.openxmlformats.org/drawingml/2006/main" cx="561975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936625"/>
                <a:gridCol w="936625"/>
                <a:gridCol w="936625"/>
                <a:gridCol w="936625"/>
                <a:gridCol w="936625"/>
                <a:gridCol w="936625"/>
              </a:tblGrid>
              <a:tr h="5397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kyouyou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senmon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eigo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mensetsu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ronbun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1.00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50.00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90.00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40.00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50.00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80.00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80.00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70.00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80.00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70.00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80.00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3.00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50.00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40.00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90.00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80.00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30.00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4.00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80.00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40.00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80.00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90.00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50.00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5.00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20.00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30.00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30.00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20.00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30.00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cdc36cc2c4940"/>
          <a:stretch xmlns:a="http://schemas.openxmlformats.org/drawingml/2006/main"/>
        </p:blipFill>
        <p:spPr>
          <a:xfrm xmlns:a="http://schemas.openxmlformats.org/drawingml/2006/main">
            <a:off x="6286500" y="1562100"/>
            <a:ext cx="5334000" cy="3200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5B59B-B755-4D78-B345-B80E4C2A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・受験者2は全体的に高得点で安定している。受験者5は全科目で低い。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・受験者1は専門と論文、受験者3・4は英語や面接に特徴がある。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466DB-59C1-41EF-A3C7-3C8B2CEE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58C"/>
                </a:solidFill>
              </a:defRPr>
            </a:pPr>
            <a:r>
              <a:rPr sz="825">
                <a:solidFill>
                  <a:srgbClr val="7A858C"/>
                </a:solidFill>
              </a:rPr>
              <a:t>17-7A | R prcomp(scale.=TRUE) による主成分分析</a:t>
            </a:r>
          </a:p>
        </p:txBody>
      </p:sp>
    </p:spTree>
    <p:extLst>
      <p:ext uri="{BB962C8B-B14F-4D97-AF65-F5344CB8AC3E}">
        <p14:creationId xmlns:p14="http://schemas.microsoft.com/office/powerpoint/2010/main" val="532342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AA9EA4-119C-4AB3-AD8B-557DB432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642"/>
                </a:solidFill>
              </a:defRPr>
            </a:pPr>
            <a:r>
              <a:rPr sz="2550" b="1">
                <a:solidFill>
                  <a:srgbClr val="143642"/>
                </a:solidFill>
              </a:rPr>
              <a:t>主成分得点と負荷量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C7505-CF65-422E-8823-D3CAC21A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D"/>
                </a:solidFill>
              </a:defRPr>
            </a:pPr>
            <a:r>
              <a:rPr sz="1125">
                <a:solidFill>
                  <a:srgbClr val="56636D"/>
                </a:solidFill>
              </a:rPr>
              <a:t>第1主成分と第2主成分の位置関係から特徴を読む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c5b6152e84972"/>
          <a:stretch xmlns:a="http://schemas.openxmlformats.org/drawingml/2006/main"/>
        </p:blipFill>
        <p:spPr>
          <a:xfrm xmlns:a="http://schemas.openxmlformats.org/drawingml/2006/main">
            <a:off x="552450" y="1475105"/>
            <a:ext cx="5334000" cy="369824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daf3c2dab4a49"/>
          <a:stretch xmlns:a="http://schemas.openxmlformats.org/drawingml/2006/main"/>
        </p:blipFill>
        <p:spPr>
          <a:xfrm xmlns:a="http://schemas.openxmlformats.org/drawingml/2006/main">
            <a:off x="6286500" y="1430431"/>
            <a:ext cx="4953000" cy="37875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87591-73A5-4035-9221-6D56FCD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・右側ほど総合評価が高い。上側ほど専門・論文型、下側ほど英語・面接型の傾向が強い。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07C10-648A-454E-9B8A-B34697B9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58C"/>
                </a:solidFill>
              </a:defRPr>
            </a:pPr>
            <a:r>
              <a:rPr sz="825">
                <a:solidFill>
                  <a:srgbClr val="7A858C"/>
                </a:solidFill>
              </a:rPr>
              <a:t>17-7A | R prcomp(scale.=TRUE) による主成分分析</a:t>
            </a:r>
          </a:p>
        </p:txBody>
      </p:sp>
    </p:spTree>
    <p:extLst>
      <p:ext uri="{BB962C8B-B14F-4D97-AF65-F5344CB8AC3E}">
        <p14:creationId xmlns:p14="http://schemas.microsoft.com/office/powerpoint/2010/main" val="2070146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8BD0CD-7B19-487D-94DB-EA783CA7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642"/>
                </a:solidFill>
              </a:defRPr>
            </a:pPr>
            <a:r>
              <a:rPr sz="2550" b="1">
                <a:solidFill>
                  <a:srgbClr val="143642"/>
                </a:solidFill>
              </a:rPr>
              <a:t>解釈と提案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B9320-D7C7-4C6E-AADB-32D982F1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D"/>
                </a:solidFill>
              </a:defRPr>
            </a:pPr>
            <a:r>
              <a:rPr sz="1125">
                <a:solidFill>
                  <a:srgbClr val="56636D"/>
                </a:solidFill>
              </a:rPr>
              <a:t>分析担当としての結論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80F2E-6DF9-4952-B852-36364B06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334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・採用優先候補は受験者2。総合力が高く、科目間の偏りも小さい。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・専門性や論述力を重視する職種では受験者1も候補になる。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・対人評価や英語を重視する職種では受験者4、次いで受験者3を検討できる。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・受験者5は全体的な基礎力不足が大きく、採用優先度は低い。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0" y="1238250"/>
          <a:ext xmlns:a="http://schemas.openxmlformats.org/drawingml/2006/main" cx="40005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1333500"/>
              </a:tblGrid>
              <a:tr h="4127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PC1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PC2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1.00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-0.13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2.01</a:t>
                      </a:r>
                    </a:p>
                  </a:txBody>
                  <a:tcPr marL="91440" marR="91440" marT="45720" marB="45720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1.47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0.72</a:t>
                      </a:r>
                    </a:p>
                  </a:txBody>
                  <a:tcPr marL="91440" marR="91440" marT="45720" marB="45720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3.00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0.24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-1.49</a:t>
                      </a:r>
                    </a:p>
                  </a:txBody>
                  <a:tcPr marL="91440" marR="91440" marT="45720" marB="45720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4.00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1.19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-0.97</a:t>
                      </a:r>
                    </a:p>
                  </a:txBody>
                  <a:tcPr marL="91440" marR="91440" marT="45720" marB="45720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5.00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-2.76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-0.26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0" y="4076700"/>
          <a:ext xmlns:a="http://schemas.openxmlformats.org/drawingml/2006/main" cx="4000500" cy="1809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1333500"/>
              </a:tblGrid>
              <a:tr h="3016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PC1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PC2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kyouyou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0.57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0.00</a:t>
                      </a:r>
                    </a:p>
                  </a:txBody>
                  <a:tcPr marL="91440" marR="91440" marT="45720" marB="45720"/>
                </a:tc>
              </a:tr>
              <a:tr h="3016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senmon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0.23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0.64</a:t>
                      </a:r>
                    </a:p>
                  </a:txBody>
                  <a:tcPr marL="91440" marR="91440" marT="45720" marB="45720"/>
                </a:tc>
              </a:tr>
              <a:tr h="3016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eigo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0.48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-0.39</a:t>
                      </a:r>
                    </a:p>
                  </a:txBody>
                  <a:tcPr marL="91440" marR="91440" marT="45720" marB="45720"/>
                </a:tc>
              </a:tr>
              <a:tr h="3016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mensetsu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0.53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-0.28</a:t>
                      </a:r>
                    </a:p>
                  </a:txBody>
                  <a:tcPr marL="91440" marR="91440" marT="45720" marB="45720"/>
                </a:tc>
              </a:tr>
              <a:tr h="3016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ronbun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0.32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0.60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BC045-2FB4-405C-A31A-E2F7FBBA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58C"/>
                </a:solidFill>
              </a:defRPr>
            </a:pPr>
            <a:r>
              <a:rPr sz="825">
                <a:solidFill>
                  <a:srgbClr val="7A858C"/>
                </a:solidFill>
              </a:rPr>
              <a:t>17-7A | R prcomp(scale.=TRUE) による主成分分析</a:t>
            </a:r>
          </a:p>
        </p:txBody>
      </p:sp>
    </p:spTree>
    <p:extLst>
      <p:ext uri="{BB962C8B-B14F-4D97-AF65-F5344CB8AC3E}">
        <p14:creationId xmlns:p14="http://schemas.microsoft.com/office/powerpoint/2010/main" val="305175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2026-06-17T01:46:00.7490000Z</dcterms:created>
  <dcterms:modified xsi:type="dcterms:W3CDTF">2026-06-17T01:46:00.7490000Z</dcterms:modified>
</coreProperties>
</file>