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632714c86c465b" /><Relationship Type="http://schemas.openxmlformats.org/officeDocument/2006/relationships/extended-properties" Target="/docProps/app.xml" Id="R74fa9b1ad0544157" /><Relationship Type="http://schemas.openxmlformats.org/officeDocument/2006/relationships/officeDocument" Target="/ppt/presentation.xml" Id="R8aba8931be214d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84f746059a467b"/>
  </p:sldMasterIdLst>
  <p:notesMasterIdLst>
    <p:notesMasterId xmlns:r="http://schemas.openxmlformats.org/officeDocument/2006/relationships" r:id="R2747b277397e49f9"/>
  </p:notesMasterIdLst>
  <p:sldIdLst>
    <p:sldId xmlns:r="http://schemas.openxmlformats.org/officeDocument/2006/relationships" id="256" r:id="Re770e06f9f9d4426"/>
    <p:sldId xmlns:r="http://schemas.openxmlformats.org/officeDocument/2006/relationships" id="257" r:id="R272cc987487c44cf"/>
    <p:sldId xmlns:r="http://schemas.openxmlformats.org/officeDocument/2006/relationships" id="258" r:id="R4f46c14057a84f0a"/>
    <p:sldId xmlns:r="http://schemas.openxmlformats.org/officeDocument/2006/relationships" id="259" r:id="R312ccce8379e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b8ca00581f412d" /><Relationship Type="http://schemas.openxmlformats.org/officeDocument/2006/relationships/slideMaster" Target="/ppt/slideMasters/slideMaster1.xml" Id="R4d84f746059a467b" /><Relationship Type="http://schemas.openxmlformats.org/officeDocument/2006/relationships/notesMaster" Target="/ppt/notesMasters/notesMaster1.xml" Id="R2747b277397e49f9" /><Relationship Type="http://schemas.openxmlformats.org/officeDocument/2006/relationships/presProps" Target="/ppt/presProps.xml" Id="Rdab6f4d44bbf454d" /><Relationship Type="http://schemas.openxmlformats.org/officeDocument/2006/relationships/tableStyles" Target="/ppt/tableStyles.xml" Id="R442441bbd0664841" /><Relationship Type="http://schemas.openxmlformats.org/officeDocument/2006/relationships/slide" Target="/ppt/slides/slide1.xml" Id="Re770e06f9f9d4426" /><Relationship Type="http://schemas.openxmlformats.org/officeDocument/2006/relationships/slide" Target="/ppt/slides/slide2.xml" Id="R272cc987487c44cf" /><Relationship Type="http://schemas.openxmlformats.org/officeDocument/2006/relationships/slide" Target="/ppt/slides/slide3.xml" Id="R4f46c14057a84f0a" /><Relationship Type="http://schemas.openxmlformats.org/officeDocument/2006/relationships/slide" Target="/ppt/slides/slide4.xml" Id="R312ccce8379e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015ab26095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b26963ba9c41cd" /><Relationship Type="http://schemas.openxmlformats.org/officeDocument/2006/relationships/notesMaster" Target="/ppt/notesMasters/notesMaster1.xml" Id="R00f21a9e902241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19fa6204a9448f" /><Relationship Type="http://schemas.openxmlformats.org/officeDocument/2006/relationships/notesMaster" Target="/ppt/notesMasters/notesMaster1.xml" Id="R33ea855146ee42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67fc792fcf4d10" /><Relationship Type="http://schemas.openxmlformats.org/officeDocument/2006/relationships/notesMaster" Target="/ppt/notesMasters/notesMaster1.xml" Id="Re883f20ab9f048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3961021bf0460f" /><Relationship Type="http://schemas.openxmlformats.org/officeDocument/2006/relationships/notesMaster" Target="/ppt/notesMasters/notesMaster1.xml" Id="R2c642efcb98345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85ac72ea542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454ec03a31478a" /><Relationship Type="http://schemas.openxmlformats.org/officeDocument/2006/relationships/slideLayout" Target="/ppt/slideLayouts/slideLayout1.xml" Id="R6811c56dbcbe4a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11c56dbcbe4a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337ae0543475f" /><Relationship Type="http://schemas.openxmlformats.org/officeDocument/2006/relationships/image" Target="/ppt/media/image.png" Id="R57b99762818a42b0" /><Relationship Type="http://schemas.openxmlformats.org/officeDocument/2006/relationships/notesSlide" Target="/ppt/notesSlides/notesSlide1.xml" Id="R4e922b5653d94b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e6f82531542bb" /><Relationship Type="http://schemas.openxmlformats.org/officeDocument/2006/relationships/image" Target="/ppt/media/image2.png" Id="R6599aa9686344b9f" /><Relationship Type="http://schemas.openxmlformats.org/officeDocument/2006/relationships/notesSlide" Target="/ppt/notesSlides/notesSlide2.xml" Id="Ra78e5317c1764d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e4f065493437a" /><Relationship Type="http://schemas.openxmlformats.org/officeDocument/2006/relationships/image" Target="/ppt/media/image3.png" Id="R0b71e013f0224f31" /><Relationship Type="http://schemas.openxmlformats.org/officeDocument/2006/relationships/image" Target="/ppt/media/image4.png" Id="Re6e6b41784004d70" /><Relationship Type="http://schemas.openxmlformats.org/officeDocument/2006/relationships/notesSlide" Target="/ppt/notesSlides/notesSlide3.xml" Id="R0ec56544dc0744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f2dc08b3e44af" /><Relationship Type="http://schemas.openxmlformats.org/officeDocument/2006/relationships/notesSlide" Target="/ppt/notesSlides/notesSlide4.xml" Id="R29731ef9d17149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4CEE15-89F6-4885-B435-CF435327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入社試験成績の分析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F8FF9-D32A-4577-BCF8-F79E8A46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nyusya_shiken.csv: 5名の試験結果を主成分分析で評価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496D8-BBC8-45A1-B646-5E6DFA32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B557E-F3E8-47BA-ADAB-D36FEF73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5CA75-E105-4C21-9171-7921891A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PC1寄与率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6EF6C-6715-437C-B84A-42E16019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56.3%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54E05-EDF3-4A1D-AEB0-E99B9163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E7C01-83B6-4B4A-A898-88467D90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E9C4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A1154-214B-40EC-A6FB-BC3B279B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PC2寄与率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9C290-207C-47C2-9CE2-F52172FF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38.8%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70C3E-01AE-41D9-81E0-0F3568D2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AFBAEC-79C8-4BF7-AC3C-62A317B9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9FE97-32A9-4AA5-A416-470275C7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累積寄与率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ACA28-81E3-4CC9-9B86-7E70362F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95.1%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76668-00D9-43AB-8CA8-8E8A107C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・PC1は全科目が正方向で、総合力を表す軸と解釈できる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・PC2は専門・論文が正、英語・面接が負で、強みの種類を分ける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・PC1+PC2で元データの95.1%を説明できる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99762818a42b0"/>
          <a:stretch xmlns:a="http://schemas.openxmlformats.org/drawingml/2006/main"/>
        </p:blipFill>
        <p:spPr>
          <a:xfrm xmlns:a="http://schemas.openxmlformats.org/drawingml/2006/main">
            <a:off x="6667500" y="3048000"/>
            <a:ext cx="4286250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96FA0-8D94-453C-A462-D87D0D27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17-7A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9999813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EDF770-BD3E-417F-8C75-C88E1730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元データの確認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02D54-CDD6-4F8B-BD82-03AA37BE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各対象の得点・人数を比較し、PCA解釈の前提を確認する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52450" y="1352550"/>
          <a:ext xmlns:a="http://schemas.openxmlformats.org/drawingml/2006/main" cx="5619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936625"/>
                <a:gridCol w="936625"/>
                <a:gridCol w="936625"/>
                <a:gridCol w="936625"/>
                <a:gridCol w="936625"/>
                <a:gridCol w="936625"/>
              </a:tblGrid>
              <a:tr h="53975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kyouyou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senmon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eigo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mensetsu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ronbun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90.00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70.00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70.00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90.00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30.00</a:t>
                      </a:r>
                    </a:p>
                  </a:txBody>
                  <a:tcPr marL="91440" marR="91440" marT="45720" marB="45720"/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90.00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30.00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9aa9686344b9f"/>
          <a:stretch xmlns:a="http://schemas.openxmlformats.org/drawingml/2006/main"/>
        </p:blipFill>
        <p:spPr>
          <a:xfrm xmlns:a="http://schemas.openxmlformats.org/drawingml/2006/main">
            <a:off x="6286500" y="1562100"/>
            <a:ext cx="5334000" cy="3200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1EA8F-3568-46BB-BC4A-7DBDCC8E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・受験者2は全体的に高得点で安定している。受験者5は全科目で低い。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・受験者1は専門と論文、受験者3・4は英語や面接に特徴がある。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AD6B5-1A3D-4FB5-B094-092A59B8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17-7A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3816427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273564-1035-4728-9DCA-98B644B1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主成分得点と負荷量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67284-26EC-4827-B356-76F6F438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第1主成分と第2主成分の位置関係から特徴を読む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1e013f0224f31"/>
          <a:stretch xmlns:a="http://schemas.openxmlformats.org/drawingml/2006/main"/>
        </p:blipFill>
        <p:spPr>
          <a:xfrm xmlns:a="http://schemas.openxmlformats.org/drawingml/2006/main">
            <a:off x="552450" y="1475105"/>
            <a:ext cx="5334000" cy="369824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6b41784004d70"/>
          <a:stretch xmlns:a="http://schemas.openxmlformats.org/drawingml/2006/main"/>
        </p:blipFill>
        <p:spPr>
          <a:xfrm xmlns:a="http://schemas.openxmlformats.org/drawingml/2006/main">
            <a:off x="6286500" y="1430431"/>
            <a:ext cx="4953000" cy="378758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BC520-32B1-41D7-AC9E-C0BFBE30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・右側ほど総合評価が高い。上側ほど専門・論文型、下側ほど英語・面接型の傾向が強い。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02B7F-FCE2-4DE7-A3FB-1E28238F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17-7A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2561905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A02F79-4244-473B-A722-04C37E1E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解釈と提案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D460FC-B2C1-4CF2-847F-26142632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分析担当としての結論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C26D8-4D69-4D0E-8079-4D33441A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・採用優先順位は、総合力を重視すると 2 → 4 → 3 → 1 → 5 と考えられる。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・受験者2は全体的に高く、上位5名を選ぶ際の中心候補になる。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・受験者1は専門・論文型、受験者4と3は英語・面接型として配属先を分けて考える。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・受験者5は上位5名に入れる場合も、入社後の基礎力補強が必要である。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667500" y="1238250"/>
          <a:ext xmlns:a="http://schemas.openxmlformats.org/drawingml/2006/main" cx="400050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41275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-0.13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2.01</a:t>
                      </a:r>
                    </a:p>
                  </a:txBody>
                  <a:tcPr marL="91440" marR="91440" marT="45720" marB="45720"/>
                </a:tc>
              </a:tr>
              <a:tr h="412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1.47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0.72</a:t>
                      </a:r>
                    </a:p>
                  </a:txBody>
                  <a:tcPr marL="91440" marR="91440" marT="45720" marB="45720"/>
                </a:tc>
              </a:tr>
              <a:tr h="412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0.24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-1.49</a:t>
                      </a:r>
                    </a:p>
                  </a:txBody>
                  <a:tcPr marL="91440" marR="91440" marT="45720" marB="45720"/>
                </a:tc>
              </a:tr>
              <a:tr h="412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-0.97</a:t>
                      </a:r>
                    </a:p>
                  </a:txBody>
                  <a:tcPr marL="91440" marR="91440" marT="45720" marB="45720"/>
                </a:tc>
              </a:tr>
              <a:tr h="412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-2.76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-0.26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0" y="4076700"/>
          <a:ext xmlns:a="http://schemas.openxmlformats.org/drawingml/2006/main" cx="4000500" cy="1809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30162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kyouyou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0.57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0.00</a:t>
                      </a:r>
                    </a:p>
                  </a:txBody>
                  <a:tcPr marL="91440" marR="91440" marT="45720" marB="45720"/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senmon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0.23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0.64</a:t>
                      </a:r>
                    </a:p>
                  </a:txBody>
                  <a:tcPr marL="91440" marR="91440" marT="45720" marB="45720"/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eigo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0.48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-0.39</a:t>
                      </a:r>
                    </a:p>
                  </a:txBody>
                  <a:tcPr marL="91440" marR="91440" marT="45720" marB="45720"/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mensetsu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0.53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-0.28</a:t>
                      </a:r>
                    </a:p>
                  </a:txBody>
                  <a:tcPr marL="91440" marR="91440" marT="45720" marB="45720"/>
                </a:tc>
              </a:tr>
              <a:tr h="30162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ronbun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0.32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0.60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443262-EB67-4895-B60B-76852C6A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17-7A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439524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2026-06-17T02:34:17.0700000Z</dcterms:created>
  <dcterms:modified xsi:type="dcterms:W3CDTF">2026-06-17T02:34:17.0700000Z</dcterms:modified>
</coreProperties>
</file>