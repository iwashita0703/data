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3"/>
    <p:restoredTop sz="94673"/>
  </p:normalViewPr>
  <p:slideViewPr>
    <p:cSldViewPr snapToGrid="0">
      <p:cViewPr varScale="1">
        <p:scale>
          <a:sx n="115" d="100"/>
          <a:sy n="115" d="100"/>
        </p:scale>
        <p:origin x="6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440970-0309-C628-581B-A8BE12332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9D754B3-4880-38D7-2DBC-C5613A85E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A7BFAF-6DE0-7B6F-760B-C59F89F7A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37FA78-86DD-93F8-87CD-E55F1FA1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E2130C-0D06-89D4-A422-C4BD3FDA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327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CE2FF6-43C2-5B88-39D5-75527EC9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3788D4-689A-E0C7-0009-EF7EA30F6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D98BA5-7AA9-A930-8370-64BFC9C46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166D57-4067-6362-788C-BE3316AB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780A9D-8186-A31A-019A-FFE4394C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85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62345-2A79-BB7F-E00C-61AEB8F8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363F8B-32ED-8F9E-883F-8E84F6A2E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9FCD78-A662-DAC9-B276-B0760B9C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F06B94-C836-1B9E-C3AB-79563191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067228-8ECD-19D7-D29F-22AF9018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E7BF59-05A8-B050-4428-3B3A2F5D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FB6672-F022-2A20-1637-D48DE4665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1B1EFC-10CE-2E06-1CEB-A47127212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8413F7-9BB4-941D-32AF-D223D894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1316C9-9740-503F-1FE8-F16ECB1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9AD5BC-9496-BB0F-BDF9-86178B54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19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1964FB-80DD-3AA7-46D0-19E26F50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2D744F-D12C-26E6-1FE3-831875C98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6659CF-8F7E-C32E-639A-AC20D5079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AC96220-9250-0F79-EA61-72B3809A8F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09919B6-1E6B-DA6D-7CC5-395E39327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186727-22A5-A210-BC7A-7FBACE06A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3CADF84-61B8-2B39-FE87-2EBB2147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8F399C3-01F7-88EE-44A6-733E529D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833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4CDE27-0673-3955-65BA-B9760C28A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5DC134D-A2DB-6273-5B03-2DFD15B9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41C3F63-D091-9A16-3A9C-7F26CF51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F3A925-EF5D-B2CB-116E-6569C5DA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07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08D682-FDA0-5462-2A4F-9361E4E6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C8A78D1-0522-70E3-CB57-5E031071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B76302-6601-7018-4923-0D6CEE1E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660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D77FDB-3306-5213-3B58-3D2338DB8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3AC100-476B-7EC9-A952-6B41B30FE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708F69-3CB7-BFC3-79D6-1FDE4035B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EEF48D-79AD-D9B5-F6E1-7644AB194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223A2F-81AC-8FBB-64F2-EF73E7D4D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CDC462-78BD-0035-6D95-B78B3210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144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5906D8-0052-F406-5F6A-B5FD3C83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B844D4-0E53-4B3E-57F4-E3DD8FEA1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180351-0E52-74E0-BD2A-693654E0B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FEFFDC-C6ED-468C-F3E2-DF933BA7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1C75A9-14DC-66B1-F2E4-E20EA761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D216CD-6CD2-18DB-CDEA-9D3B1E1A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93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9C613-8AAC-F160-63F1-D786E543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AE3BE0-F5A1-ADA4-892D-344FD0B35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BDAE1F-50BD-B9C1-7E41-DAA349678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368634-F1A2-816F-3964-E408A593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148ECD-364A-B9B4-3060-8C67563D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40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4F730DC-C061-2E3C-C59B-42D60603D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DCECBE-B20E-77C4-8B47-7FCEDC9FA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995E05-4C99-044C-93F7-5DB6AE50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36BB3D-3544-4527-5F3C-2E7436A7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A698E9-F701-7464-B390-928C5098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146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878A4A-7476-0067-76A1-CE375687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FC3A7D-7C64-4E44-3E21-F77F9A60D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87AD34-E6F0-BE2A-EA58-02658B55B9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9491A-15DD-3144-B90F-0464F64D6D63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F3CB82-8B21-4DE7-D714-DB4C9E499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38CE88-8FFE-DA0E-6B94-942743745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E7A25-987D-7745-B666-6C5E84B13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32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D56D24A4-F58F-5CDF-F004-2F5A5BAA6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7426036" cy="1655762"/>
          </a:xfrm>
        </p:spPr>
        <p:txBody>
          <a:bodyPr/>
          <a:lstStyle/>
          <a:p>
            <a:r>
              <a:rPr lang="ja-JP" altLang="en-US"/>
              <a:t>今回使用したデータ：熱処理時間と粘度</a:t>
            </a:r>
            <a:endParaRPr lang="en-US" altLang="ja-JP" dirty="0"/>
          </a:p>
          <a:p>
            <a:pPr algn="l"/>
            <a:r>
              <a:rPr lang="ja-JP" altLang="en-US"/>
              <a:t>上記二つから製品の品質を判別する</a:t>
            </a:r>
            <a:endParaRPr lang="en-US" altLang="ja-JP" dirty="0"/>
          </a:p>
          <a:p>
            <a:pPr algn="l"/>
            <a:r>
              <a:rPr lang="ja-JP" altLang="en-US"/>
              <a:t>　</a:t>
            </a:r>
            <a:endParaRPr kumimoji="1" lang="ja-JP" altLang="en-US"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A276303B-64E1-B139-BC87-0DA11B669AD1}"/>
              </a:ext>
            </a:extLst>
          </p:cNvPr>
          <p:cNvSpPr txBox="1">
            <a:spLocks/>
          </p:cNvSpPr>
          <p:nvPr/>
        </p:nvSpPr>
        <p:spPr>
          <a:xfrm>
            <a:off x="0" y="1153607"/>
            <a:ext cx="12469091" cy="1146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今回の判別式</a:t>
            </a:r>
            <a:r>
              <a:rPr lang="en" altLang="ja-JP" dirty="0"/>
              <a:t>z=1.0269⋅Nendo+0.3502⋅Netsu+40.4118</a:t>
            </a:r>
            <a:r>
              <a:rPr lang="ja-JP" altLang="en-US"/>
              <a:t>　となることがわかり、</a:t>
            </a:r>
            <a:r>
              <a:rPr lang="en-US" altLang="ja-JP" dirty="0"/>
              <a:t>Z&gt;0</a:t>
            </a:r>
            <a:r>
              <a:rPr lang="ja-JP" altLang="en-US"/>
              <a:t>が成立すると良品と判定される。</a:t>
            </a:r>
            <a:endParaRPr lang="en-US" altLang="ja-JP" dirty="0"/>
          </a:p>
          <a:p>
            <a:pPr algn="l"/>
            <a:endParaRPr lang="ja-JP" altLang="en-US"/>
          </a:p>
        </p:txBody>
      </p:sp>
      <p:sp>
        <p:nvSpPr>
          <p:cNvPr id="6" name="字幕 2">
            <a:extLst>
              <a:ext uri="{FF2B5EF4-FFF2-40B4-BE49-F238E27FC236}">
                <a16:creationId xmlns:a16="http://schemas.microsoft.com/office/drawing/2014/main" id="{532219A9-7D06-5087-6ED8-22345CBD3353}"/>
              </a:ext>
            </a:extLst>
          </p:cNvPr>
          <p:cNvSpPr txBox="1">
            <a:spLocks/>
          </p:cNvSpPr>
          <p:nvPr/>
        </p:nvSpPr>
        <p:spPr>
          <a:xfrm>
            <a:off x="0" y="2144207"/>
            <a:ext cx="12469091" cy="1146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以下、ソースコードとコードを実施したデータを添付する。</a:t>
            </a: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2DA76273-910D-49D9-00BF-9BB6196577A4}"/>
              </a:ext>
            </a:extLst>
          </p:cNvPr>
          <p:cNvSpPr txBox="1">
            <a:spLocks/>
          </p:cNvSpPr>
          <p:nvPr/>
        </p:nvSpPr>
        <p:spPr>
          <a:xfrm>
            <a:off x="0" y="2717331"/>
            <a:ext cx="12469091" cy="1146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31C4542-9E2D-F252-83E5-2BF6F78BE60A}"/>
              </a:ext>
            </a:extLst>
          </p:cNvPr>
          <p:cNvSpPr/>
          <p:nvPr/>
        </p:nvSpPr>
        <p:spPr>
          <a:xfrm>
            <a:off x="210207" y="2585545"/>
            <a:ext cx="5139559" cy="3289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E22EA562-C381-F308-4030-4FD096A528D5}"/>
              </a:ext>
            </a:extLst>
          </p:cNvPr>
          <p:cNvSpPr txBox="1">
            <a:spLocks/>
          </p:cNvSpPr>
          <p:nvPr/>
        </p:nvSpPr>
        <p:spPr>
          <a:xfrm>
            <a:off x="405126" y="2717331"/>
            <a:ext cx="5690874" cy="3315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" altLang="ja-JP" dirty="0"/>
              <a:t>Discriminant Function:</a:t>
            </a:r>
          </a:p>
          <a:p>
            <a:pPr algn="l"/>
            <a:r>
              <a:rPr lang="en" altLang="ja-JP" dirty="0"/>
              <a:t>z =  1.0269 * </a:t>
            </a:r>
            <a:r>
              <a:rPr lang="en" altLang="ja-JP" dirty="0" err="1"/>
              <a:t>Nendo</a:t>
            </a:r>
            <a:r>
              <a:rPr lang="en" altLang="ja-JP" dirty="0"/>
              <a:t> +  0.3502 * </a:t>
            </a:r>
            <a:r>
              <a:rPr lang="en" altLang="ja-JP" dirty="0" err="1"/>
              <a:t>Netsu</a:t>
            </a:r>
            <a:r>
              <a:rPr lang="en" altLang="ja-JP" dirty="0"/>
              <a:t> +  40.4118 </a:t>
            </a:r>
          </a:p>
          <a:p>
            <a:pPr algn="l"/>
            <a:r>
              <a:rPr lang="en" altLang="ja-JP" dirty="0"/>
              <a:t>Rule: z &gt; 0 → Good,  z &lt; 0 → </a:t>
            </a:r>
            <a:r>
              <a:rPr lang="en" altLang="ja-JP" dirty="0" err="1"/>
              <a:t>BadPredicted</a:t>
            </a:r>
            <a:r>
              <a:rPr lang="en" altLang="ja-JP" dirty="0"/>
              <a:t> Classes:</a:t>
            </a:r>
          </a:p>
          <a:p>
            <a:pPr algn="l"/>
            <a:r>
              <a:rPr lang="en" altLang="ja-JP" dirty="0"/>
              <a:t> [1]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ryou</a:t>
            </a:r>
            <a:r>
              <a:rPr lang="en" altLang="ja-JP" dirty="0"/>
              <a:t>  </a:t>
            </a:r>
          </a:p>
          <a:p>
            <a:pPr algn="l"/>
            <a:r>
              <a:rPr lang="en" altLang="ja-JP" dirty="0"/>
              <a:t>[11]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ryou</a:t>
            </a:r>
            <a:r>
              <a:rPr lang="en" altLang="ja-JP" dirty="0"/>
              <a:t>  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furyou</a:t>
            </a:r>
            <a:endParaRPr lang="en" altLang="ja-JP" dirty="0"/>
          </a:p>
          <a:p>
            <a:pPr algn="l"/>
            <a:r>
              <a:rPr lang="en" altLang="ja-JP" dirty="0"/>
              <a:t>Levels: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ryou</a:t>
            </a:r>
            <a:endParaRPr lang="en" altLang="ja-JP" dirty="0"/>
          </a:p>
          <a:p>
            <a:pPr algn="l"/>
            <a:r>
              <a:rPr lang="en" altLang="ja-JP" dirty="0"/>
              <a:t>Confusion Matrix:</a:t>
            </a:r>
          </a:p>
          <a:p>
            <a:pPr algn="l"/>
            <a:r>
              <a:rPr lang="en" altLang="ja-JP" dirty="0"/>
              <a:t>        Predicted</a:t>
            </a:r>
          </a:p>
          <a:p>
            <a:pPr algn="l"/>
            <a:r>
              <a:rPr lang="en" altLang="ja-JP" dirty="0"/>
              <a:t>True     </a:t>
            </a:r>
            <a:r>
              <a:rPr lang="en" altLang="ja-JP" dirty="0" err="1"/>
              <a:t>furyou</a:t>
            </a:r>
            <a:r>
              <a:rPr lang="en" altLang="ja-JP" dirty="0"/>
              <a:t> </a:t>
            </a:r>
            <a:r>
              <a:rPr lang="en" altLang="ja-JP" dirty="0" err="1"/>
              <a:t>ryou</a:t>
            </a:r>
            <a:endParaRPr lang="en" altLang="ja-JP" dirty="0"/>
          </a:p>
          <a:p>
            <a:pPr algn="l"/>
            <a:r>
              <a:rPr lang="en" altLang="ja-JP" dirty="0"/>
              <a:t>  </a:t>
            </a:r>
            <a:r>
              <a:rPr lang="en" altLang="ja-JP" dirty="0" err="1"/>
              <a:t>furyou</a:t>
            </a:r>
            <a:r>
              <a:rPr lang="en" altLang="ja-JP" dirty="0"/>
              <a:t>      8    2</a:t>
            </a:r>
          </a:p>
          <a:p>
            <a:pPr algn="l"/>
            <a:r>
              <a:rPr lang="en" altLang="ja-JP" dirty="0"/>
              <a:t>  </a:t>
            </a:r>
            <a:r>
              <a:rPr lang="en" altLang="ja-JP" dirty="0" err="1"/>
              <a:t>ryou</a:t>
            </a:r>
            <a:r>
              <a:rPr lang="en" altLang="ja-JP" dirty="0"/>
              <a:t>        2    8</a:t>
            </a:r>
          </a:p>
          <a:p>
            <a:pPr algn="l"/>
            <a:r>
              <a:rPr lang="en" altLang="ja-JP" dirty="0"/>
              <a:t>Misclassification Rate:</a:t>
            </a:r>
          </a:p>
          <a:p>
            <a:pPr algn="l"/>
            <a:r>
              <a:rPr lang="en" altLang="ja-JP" dirty="0"/>
              <a:t>4 / 20  =  0.2 </a:t>
            </a:r>
            <a:endParaRPr lang="ja-JP" altLang="en-US"/>
          </a:p>
        </p:txBody>
      </p:sp>
      <p:pic>
        <p:nvPicPr>
          <p:cNvPr id="11" name="図 10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0639B8F0-3181-979B-3F08-D616E2A437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06" t="-3" r="-14903" b="14537"/>
          <a:stretch>
            <a:fillRect/>
          </a:stretch>
        </p:blipFill>
        <p:spPr>
          <a:xfrm>
            <a:off x="5803868" y="2584338"/>
            <a:ext cx="6875430" cy="394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34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8E6B0-7426-A168-EE29-184F7E681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5493"/>
            <a:ext cx="10515600" cy="1325563"/>
          </a:xfrm>
        </p:spPr>
        <p:txBody>
          <a:bodyPr/>
          <a:lstStyle/>
          <a:p>
            <a:r>
              <a:rPr kumimoji="1" lang="ja-JP" altLang="en-US"/>
              <a:t>考察</a:t>
            </a:r>
          </a:p>
        </p:txBody>
      </p:sp>
      <p:pic>
        <p:nvPicPr>
          <p:cNvPr id="6" name="図 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FEF3DFC2-DCCD-2B32-FB4C-80931E08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591" y="895349"/>
            <a:ext cx="3276600" cy="1270000"/>
          </a:xfrm>
          <a:prstGeom prst="rect">
            <a:avLst/>
          </a:prstGeom>
        </p:spPr>
      </p:pic>
      <p:pic>
        <p:nvPicPr>
          <p:cNvPr id="8" name="図 7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AAD36E77-F63E-A68B-86B4-78B9A256D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222" y="691906"/>
            <a:ext cx="2032000" cy="16383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C9C0BA2-84B3-EF4B-85B7-6C2D5D03DEA2}"/>
              </a:ext>
            </a:extLst>
          </p:cNvPr>
          <p:cNvSpPr/>
          <p:nvPr/>
        </p:nvSpPr>
        <p:spPr>
          <a:xfrm>
            <a:off x="2254827" y="436418"/>
            <a:ext cx="1070264" cy="561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3A94DD-D8B1-1616-1BC9-8F1660140477}"/>
              </a:ext>
            </a:extLst>
          </p:cNvPr>
          <p:cNvSpPr/>
          <p:nvPr/>
        </p:nvSpPr>
        <p:spPr>
          <a:xfrm>
            <a:off x="6385212" y="589222"/>
            <a:ext cx="1947143" cy="561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EEA16C-FD93-BD38-0B6B-2AE1DBE00DB2}"/>
              </a:ext>
            </a:extLst>
          </p:cNvPr>
          <p:cNvSpPr txBox="1"/>
          <p:nvPr/>
        </p:nvSpPr>
        <p:spPr>
          <a:xfrm>
            <a:off x="2351377" y="58922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元の値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10813C9-CF60-4A4C-8606-39A39C1281C4}"/>
              </a:ext>
            </a:extLst>
          </p:cNvPr>
          <p:cNvSpPr txBox="1"/>
          <p:nvPr/>
        </p:nvSpPr>
        <p:spPr>
          <a:xfrm>
            <a:off x="7190077" y="6459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計算結果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B6D5AC3-91CA-109D-55C8-C1B4C8EA220B}"/>
              </a:ext>
            </a:extLst>
          </p:cNvPr>
          <p:cNvCxnSpPr>
            <a:cxnSpLocks/>
          </p:cNvCxnSpPr>
          <p:nvPr/>
        </p:nvCxnSpPr>
        <p:spPr>
          <a:xfrm>
            <a:off x="4104409" y="1661557"/>
            <a:ext cx="127808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66B29E3-4894-7133-ED69-62E6524FD1BE}"/>
              </a:ext>
            </a:extLst>
          </p:cNvPr>
          <p:cNvSpPr txBox="1"/>
          <p:nvPr/>
        </p:nvSpPr>
        <p:spPr>
          <a:xfrm>
            <a:off x="46758" y="2636333"/>
            <a:ext cx="12397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元データは５</a:t>
            </a:r>
            <a:r>
              <a:rPr kumimoji="1" lang="en-US" altLang="ja-JP" dirty="0"/>
              <a:t>:</a:t>
            </a:r>
            <a:r>
              <a:rPr kumimoji="1" lang="ja-JP" altLang="en-US"/>
              <a:t>５のデータであるが、実際のデータは異なっている。実際のデータに対して、今回のデータは</a:t>
            </a:r>
            <a:endParaRPr kumimoji="1" lang="en-US" altLang="ja-JP" dirty="0"/>
          </a:p>
          <a:p>
            <a:r>
              <a:rPr lang="ja-JP" altLang="en-US"/>
              <a:t>元データに対して</a:t>
            </a:r>
            <a:r>
              <a:rPr lang="en-US" altLang="ja-JP" dirty="0"/>
              <a:t>80%</a:t>
            </a:r>
            <a:r>
              <a:rPr lang="ja-JP" altLang="en-US"/>
              <a:t>の正解率を示していることがわかる。つまり、粘度と熱処理時間の関係は品質をある程度保証で</a:t>
            </a:r>
            <a:endParaRPr lang="en-US" altLang="ja-JP" dirty="0"/>
          </a:p>
          <a:p>
            <a:r>
              <a:rPr lang="ja-JP" altLang="en-US"/>
              <a:t>きること</a:t>
            </a:r>
            <a:r>
              <a:rPr kumimoji="1" lang="ja-JP" altLang="en-US"/>
              <a:t>を示している。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3879481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217</Words>
  <Application>Microsoft Macintosh PowerPoint</Application>
  <PresentationFormat>ワイド画面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考察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26Y1AP02：岩下_熊本</dc:creator>
  <cp:lastModifiedBy>26Y1AP02：岩下_熊本</cp:lastModifiedBy>
  <cp:revision>2</cp:revision>
  <dcterms:created xsi:type="dcterms:W3CDTF">2026-06-03T01:57:14Z</dcterms:created>
  <dcterms:modified xsi:type="dcterms:W3CDTF">2026-06-03T02:20:00Z</dcterms:modified>
</cp:coreProperties>
</file>