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f7926780fc42b1" /><Relationship Type="http://schemas.openxmlformats.org/officeDocument/2006/relationships/extended-properties" Target="/docProps/app.xml" Id="Rf39c5a47424d4c81" /><Relationship Type="http://schemas.openxmlformats.org/officeDocument/2006/relationships/officeDocument" Target="/ppt/presentation.xml" Id="R0502f248d9ac41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3c8cb7006f4569"/>
  </p:sldMasterIdLst>
  <p:notesMasterIdLst>
    <p:notesMasterId xmlns:r="http://schemas.openxmlformats.org/officeDocument/2006/relationships" r:id="R434d404b3f404f20"/>
  </p:notesMasterIdLst>
  <p:sldIdLst>
    <p:sldId xmlns:r="http://schemas.openxmlformats.org/officeDocument/2006/relationships" id="256" r:id="Re2b258bbb0bb4a15"/>
    <p:sldId xmlns:r="http://schemas.openxmlformats.org/officeDocument/2006/relationships" id="257" r:id="R3382215b5eef46f9"/>
    <p:sldId xmlns:r="http://schemas.openxmlformats.org/officeDocument/2006/relationships" id="258" r:id="Rdfc504ec95554c54"/>
    <p:sldId xmlns:r="http://schemas.openxmlformats.org/officeDocument/2006/relationships" id="259" r:id="Rf122e376df474ad3"/>
    <p:sldId xmlns:r="http://schemas.openxmlformats.org/officeDocument/2006/relationships" id="260" r:id="Ra3a59b468c9940f2"/>
    <p:sldId xmlns:r="http://schemas.openxmlformats.org/officeDocument/2006/relationships" id="261" r:id="R9823c83c001a4ca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e6dae07c3441df" /><Relationship Type="http://schemas.openxmlformats.org/officeDocument/2006/relationships/slideMaster" Target="/ppt/slideMasters/slideMaster1.xml" Id="R2c3c8cb7006f4569" /><Relationship Type="http://schemas.openxmlformats.org/officeDocument/2006/relationships/notesMaster" Target="/ppt/notesMasters/notesMaster1.xml" Id="R434d404b3f404f20" /><Relationship Type="http://schemas.openxmlformats.org/officeDocument/2006/relationships/presProps" Target="/ppt/presProps.xml" Id="Rc10e8dfa0e1d4438" /><Relationship Type="http://schemas.openxmlformats.org/officeDocument/2006/relationships/tableStyles" Target="/ppt/tableStyles.xml" Id="R0d75e21d0f5f4aca" /><Relationship Type="http://schemas.openxmlformats.org/officeDocument/2006/relationships/slide" Target="/ppt/slides/slide1.xml" Id="Re2b258bbb0bb4a15" /><Relationship Type="http://schemas.openxmlformats.org/officeDocument/2006/relationships/slide" Target="/ppt/slides/slide2.xml" Id="R3382215b5eef46f9" /><Relationship Type="http://schemas.openxmlformats.org/officeDocument/2006/relationships/slide" Target="/ppt/slides/slide3.xml" Id="Rdfc504ec95554c54" /><Relationship Type="http://schemas.openxmlformats.org/officeDocument/2006/relationships/slide" Target="/ppt/slides/slide4.xml" Id="Rf122e376df474ad3" /><Relationship Type="http://schemas.openxmlformats.org/officeDocument/2006/relationships/slide" Target="/ppt/slides/slide5.xml" Id="Ra3a59b468c9940f2" /><Relationship Type="http://schemas.openxmlformats.org/officeDocument/2006/relationships/slide" Target="/ppt/slides/slide6.xml" Id="R9823c83c001a4c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6c1c3d228d45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62abf5b74a4fcd" /><Relationship Type="http://schemas.openxmlformats.org/officeDocument/2006/relationships/notesMaster" Target="/ppt/notesMasters/notesMaster1.xml" Id="R9dda696861974b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249e50e0b243da" /><Relationship Type="http://schemas.openxmlformats.org/officeDocument/2006/relationships/notesMaster" Target="/ppt/notesMasters/notesMaster1.xml" Id="Reb542e9b3ef54a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322028dbdd4fd3" /><Relationship Type="http://schemas.openxmlformats.org/officeDocument/2006/relationships/notesMaster" Target="/ppt/notesMasters/notesMaster1.xml" Id="R0fa0576ac85245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75cce0524e45d8" /><Relationship Type="http://schemas.openxmlformats.org/officeDocument/2006/relationships/notesMaster" Target="/ppt/notesMasters/notesMaster1.xml" Id="R63ed71ac263b4b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a60b8fdcb5437e" /><Relationship Type="http://schemas.openxmlformats.org/officeDocument/2006/relationships/notesMaster" Target="/ppt/notesMasters/notesMaster1.xml" Id="R74cead71dbeb4f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d899a2ac144cc6" /><Relationship Type="http://schemas.openxmlformats.org/officeDocument/2006/relationships/notesMaster" Target="/ppt/notesMasters/notesMaster1.xml" Id="R6bf1506f5cbe41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664ab2974042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d6db2157cc43f4" /><Relationship Type="http://schemas.openxmlformats.org/officeDocument/2006/relationships/slideLayout" Target="/ppt/slideLayouts/slideLayout1.xml" Id="R7bc4f434ffb047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c4f434ffb047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8d02b30d44ab3" /><Relationship Type="http://schemas.openxmlformats.org/officeDocument/2006/relationships/image" Target="/ppt/media/image.png" Id="Ra95d76393615425f" /><Relationship Type="http://schemas.openxmlformats.org/officeDocument/2006/relationships/notesSlide" Target="/ppt/notesSlides/notesSlide1.xml" Id="R26e71c56e0174a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feb21e18a4f3c" /><Relationship Type="http://schemas.openxmlformats.org/officeDocument/2006/relationships/image" Target="/ppt/media/image2.png" Id="R4560cd3d09f94c41" /><Relationship Type="http://schemas.openxmlformats.org/officeDocument/2006/relationships/image" Target="/ppt/media/image3.png" Id="R035697fa8ce34977" /><Relationship Type="http://schemas.openxmlformats.org/officeDocument/2006/relationships/image" Target="/ppt/media/image4.png" Id="Rfbd0901d259c4bd9" /><Relationship Type="http://schemas.openxmlformats.org/officeDocument/2006/relationships/notesSlide" Target="/ppt/notesSlides/notesSlide2.xml" Id="Rb7117d0082df43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fc04e2091422a" /><Relationship Type="http://schemas.openxmlformats.org/officeDocument/2006/relationships/image" Target="/ppt/media/image5.png" Id="R6a6fd251208543fe" /><Relationship Type="http://schemas.openxmlformats.org/officeDocument/2006/relationships/image" Target="/ppt/media/image6.png" Id="Rc64a76791e0b4b84" /><Relationship Type="http://schemas.openxmlformats.org/officeDocument/2006/relationships/notesSlide" Target="/ppt/notesSlides/notesSlide3.xml" Id="Rebe933b15fca40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c8a5b5ba04ad4" /><Relationship Type="http://schemas.openxmlformats.org/officeDocument/2006/relationships/notesSlide" Target="/ppt/notesSlides/notesSlide4.xml" Id="R934c1f5c641f40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15c19cca2437e" /><Relationship Type="http://schemas.openxmlformats.org/officeDocument/2006/relationships/notesSlide" Target="/ppt/notesSlides/notesSlide5.xml" Id="R5573bfd3a1ad48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0c1355aa542c0" /><Relationship Type="http://schemas.openxmlformats.org/officeDocument/2006/relationships/notesSlide" Target="/ppt/notesSlides/notesSlide6.xml" Id="R083625d3923e42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770E64C6-C39D-4569-A90D-63F1F45D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Rでの解析の流れ</a:t>
            </a:r>
          </a:p>
        </p:txBody>
      </p:sp>
      <p:pic>
        <p:nvPicPr>
          <p:cNvPr id="6" name="図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d76393615425f"/>
          <a:stretch xmlns:a="http://schemas.openxmlformats.org/drawingml/2006/main"/>
        </p:blipFill>
        <p:spPr>
          <a:xfrm xmlns:a="http://schemas.openxmlformats.org/drawingml/2006/main">
            <a:off x="2142711" y="1352550"/>
            <a:ext cx="7335078" cy="468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7471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8767AFD0-29B3-4A60-A15C-A6A96921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因子得点と因子負荷量</a:t>
            </a:r>
          </a:p>
        </p:txBody>
      </p:sp>
      <p:pic>
        <p:nvPicPr>
          <p:cNvPr id="8" name="図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60cd3d09f94c41"/>
          <a:stretch xmlns:a="http://schemas.openxmlformats.org/drawingml/2006/main"/>
        </p:blipFill>
        <p:spPr>
          <a:xfrm xmlns:a="http://schemas.openxmlformats.org/drawingml/2006/main">
            <a:off x="381000" y="1850571"/>
            <a:ext cx="3619500" cy="2585357"/>
          </a:xfrm>
          <a:prstGeom xmlns:a="http://schemas.openxmlformats.org/drawingml/2006/main" prst="rect">
            <a:avLst/>
          </a:prstGeom>
        </p:spPr>
      </p:pic>
      <p:pic>
        <p:nvPicPr>
          <p:cNvPr id="9" name="図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697fa8ce34977"/>
          <a:stretch xmlns:a="http://schemas.openxmlformats.org/drawingml/2006/main"/>
        </p:blipFill>
        <p:spPr>
          <a:xfrm xmlns:a="http://schemas.openxmlformats.org/drawingml/2006/main">
            <a:off x="4286250" y="1850571"/>
            <a:ext cx="3619500" cy="2585357"/>
          </a:xfrm>
          <a:prstGeom xmlns:a="http://schemas.openxmlformats.org/drawingml/2006/main" prst="rect">
            <a:avLst/>
          </a:prstGeom>
        </p:spPr>
      </p:pic>
      <p:pic>
        <p:nvPicPr>
          <p:cNvPr id="10" name="図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0901d259c4bd9"/>
          <a:stretch xmlns:a="http://schemas.openxmlformats.org/drawingml/2006/main"/>
        </p:blipFill>
        <p:spPr>
          <a:xfrm xmlns:a="http://schemas.openxmlformats.org/drawingml/2006/main">
            <a:off x="8191500" y="1850571"/>
            <a:ext cx="3619500" cy="25853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5947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正方形/長方形 2">
            <a:extLst xmlns:a="http://schemas.openxmlformats.org/drawingml/2006/main">
              <a:ext uri="{FF2B5EF4-FFF2-40B4-BE49-F238E27FC236}">
                <a16:creationId xmlns:a16="http://schemas.microsoft.com/office/drawing/2014/main" id="{5E66D3F1-CA6C-4EBF-A7D5-31291E7B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因子負荷量の棒グラフ</a:t>
            </a:r>
          </a:p>
        </p:txBody>
      </p:sp>
      <p:pic>
        <p:nvPicPr>
          <p:cNvPr id="7" name="図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fd251208543fe"/>
          <a:stretch xmlns:a="http://schemas.openxmlformats.org/drawingml/2006/main"/>
        </p:blipFill>
        <p:spPr>
          <a:xfrm xmlns:a="http://schemas.openxmlformats.org/drawingml/2006/main">
            <a:off x="952500" y="1564821"/>
            <a:ext cx="4762500" cy="3061607"/>
          </a:xfrm>
          <a:prstGeom xmlns:a="http://schemas.openxmlformats.org/drawingml/2006/main" prst="rect">
            <a:avLst/>
          </a:prstGeom>
        </p:spPr>
      </p:pic>
      <p:pic>
        <p:nvPicPr>
          <p:cNvPr id="8" name="図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a76791e0b4b84"/>
          <a:stretch xmlns:a="http://schemas.openxmlformats.org/drawingml/2006/main"/>
        </p:blipFill>
        <p:spPr>
          <a:xfrm xmlns:a="http://schemas.openxmlformats.org/drawingml/2006/main">
            <a:off x="6477000" y="1564821"/>
            <a:ext cx="4762500" cy="30616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008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76C238-5F0E-4D3B-A737-45094C1E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ソースコード (1/3)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78BAA-6D3C-4C0B-BE7D-695527BA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3"/>
                </a:solidFill>
              </a:defRPr>
            </a:pPr>
            <a:r>
              <a:rPr sz="1350">
                <a:solidFill>
                  <a:srgbClr val="5D6B73"/>
                </a:solidFill>
              </a:rPr>
              <a:t>Class13_rp18-10A_YY.R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11FD1-BC2B-4CEC-81DA-9955B339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8F7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6C348-21EF-4ADC-91DC-C3C587F6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0629900" cy="43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1  setwd("/Users/kakigoori/Desktop/data/13")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2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3  dir.create("./answers/plots_pdf", recursive=TRUE, showWarnings=FALSE)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4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5  gokamoku &lt;- read.table("./seiseki_gokamoku.csv", header=T, sep=",")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6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7  gokamoku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8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 9  head(gokamoku)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10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11  gokamoku_fact &lt;- factanal(gokamoku[,-1], factors=2, scores="regression", rotation="none")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12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13  str(gokamoku_fact)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14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15  gokamoku_fact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16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17  gokamoku_fact$loadings[1,]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18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19  gokamoku_fact$loadings[1,]^2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20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21  1 - sum(gokamoku_fact$loadings[1,]^2)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22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23  apply(gokamoku_fact$loadings, 1, function(x){1-sum(x^2)})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24 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309ED-ABAA-4E7E-80FA-7D2B5511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78E"/>
                </a:solidFill>
              </a:defRPr>
            </a:pPr>
            <a:r>
              <a:rPr sz="825">
                <a:solidFill>
                  <a:srgbClr val="7C878E"/>
                </a:solidFill>
              </a:rPr>
              <a:t>18-10A | source code</a:t>
            </a:r>
          </a:p>
        </p:txBody>
      </p:sp>
    </p:spTree>
    <p:extLst>
      <p:ext uri="{BB962C8B-B14F-4D97-AF65-F5344CB8AC3E}">
        <p14:creationId xmlns:p14="http://schemas.microsoft.com/office/powerpoint/2010/main" val="21386502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8D67F6-0D3E-4390-9AC7-9C9FFF6C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ソースコード (2/3)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0D427-2644-4ADD-ADAE-CA5F90C8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3"/>
                </a:solidFill>
              </a:defRPr>
            </a:pPr>
            <a:r>
              <a:rPr sz="1350">
                <a:solidFill>
                  <a:srgbClr val="5D6B73"/>
                </a:solidFill>
              </a:rPr>
              <a:t>Class13_rp18-10A_YY.R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D7342-CA4E-4C46-BA4E-CA5F553E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8F7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60AB6-75F3-4C9E-BF57-E9766246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0629900" cy="43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25  gokamoku_fact$scores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26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27  pdf("./answers/plots_pdf/18-10A_gokamoku_none_biplot.pdf", width=8.5, height=6.2)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28  biplot(gokamoku_fact$scores, gokamoku_fact$loadings, xlabs=gokamoku[,1])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29  dev.off()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30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31  pdf("./answers/plots_pdf/18-10A_gokamoku_none_factor1_bar.pdf", width=8, height=5.2)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32  barplot(gokamoku_fact$loadings[,1], cex.names=0.8, las=2, ylim=c(0,1))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33  abline(h=0, col="gray50")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34  dev.off()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35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36  pdf("./answers/plots_pdf/18-10A_gokamoku_none_factor2_bar.pdf", width=8, height=5.2)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37  barplot(gokamoku_fact$loadings[,2], cex.names=0.8, las=2, ylim=c(-0.8,0.8))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38  abline(h=0, col="gray50")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39  dev.off()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40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41  gokamoku_fact &lt;- factanal(gokamoku[,-1], factors=2, scores="regression", rotation="promax")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42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43  pdf("./answers/plots_pdf/18-10A_gokamoku_promax_biplot.pdf", width=8.5, height=6.2)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44  biplot(gokamoku_fact$scores, gokamoku_fact$loadings, xlabs=gokamoku[,1])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45  dev.off()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46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47  pdf("./answers/plots_pdf/18-10A_gokamoku_promax_factor1_bar.pdf", width=8, height=5.2)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48  barplot(gokamoku_fact$loadings[,1], cex.names=0.8, las=2, ylim=c(-0.3,1.2))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DBFE0-F03D-48DA-ADC4-F5809581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78E"/>
                </a:solidFill>
              </a:defRPr>
            </a:pPr>
            <a:r>
              <a:rPr sz="825">
                <a:solidFill>
                  <a:srgbClr val="7C878E"/>
                </a:solidFill>
              </a:rPr>
              <a:t>18-10A | source code</a:t>
            </a:r>
          </a:p>
        </p:txBody>
      </p:sp>
    </p:spTree>
    <p:extLst>
      <p:ext uri="{BB962C8B-B14F-4D97-AF65-F5344CB8AC3E}">
        <p14:creationId xmlns:p14="http://schemas.microsoft.com/office/powerpoint/2010/main" val="9302689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10B5AD-27DE-4608-8798-493BF79F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3343B"/>
                </a:solidFill>
              </a:defRPr>
            </a:pPr>
            <a:r>
              <a:rPr sz="3000" b="1">
                <a:solidFill>
                  <a:srgbClr val="13343B"/>
                </a:solidFill>
              </a:rPr>
              <a:t>ソースコード (3/3)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82323-0109-4E59-93D3-A4FD756A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B73"/>
                </a:solidFill>
              </a:defRPr>
            </a:pPr>
            <a:r>
              <a:rPr sz="1350">
                <a:solidFill>
                  <a:srgbClr val="5D6B73"/>
                </a:solidFill>
              </a:rPr>
              <a:t>Class13_rp18-10A_YY.R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B7D2D-93A2-48B3-A82E-B23056F6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10871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8F7F2"/>
          </a:solidFill>
          <a:ln xmlns:a="http://schemas.openxmlformats.org/drawingml/2006/main" w="9525">
            <a:solidFill>
              <a:srgbClr val="D7E1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6031B-82BA-42B9-862B-03CDCC81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0629900" cy="434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49  abline(h=0, col="gray50")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50  dev.off()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51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52  pdf("./answers/plots_pdf/18-10A_gokamoku_promax_factor2_bar.pdf", width=8, height=5.2)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53  barplot(gokamoku_fact$loadings[,2], cex.names=0.8, las=2, ylim=c(-0.3,1.2))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54  abline(h=0, col="gray50")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55  dev.off()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56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57  gokamoku_fact &lt;- factanal(gokamoku[,-1], factors=2, scores="regression", rotation="varimax")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58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59  pdf("./answers/plots_pdf/18-10A_gokamoku_varimax_biplot.pdf", width=8.5, height=6.2)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60  biplot(gokamoku_fact$scores, gokamoku_fact$loadings, xlabs=gokamoku[,1])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61  dev.off()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62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63  pdf("./answers/plots_pdf/18-10A_gokamoku_varimax_factor1_bar.pdf", width=8, height=5.2)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64  barplot(gokamoku_fact$loadings[,1], cex.names=0.8, las=2, ylim=c(-0.3,1.2))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65  abline(h=0, col="gray50")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66  dev.off()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67  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68  pdf("./answers/plots_pdf/18-10A_gokamoku_varimax_factor2_bar.pdf", width=8, height=5.2)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69  barplot(gokamoku_fact$loadings[,2], cex.names=0.8, las=2, ylim=c(-0.3,1.2))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70  abline(h=0, col="gray50")</a:t>
            </a:r>
          </a:p>
          <a:p xmlns:a="http://schemas.openxmlformats.org/drawingml/2006/main">
            <a:pPr>
              <a:defRPr sz="1125">
                <a:solidFill>
                  <a:srgbClr val="1F2933"/>
                </a:solidFill>
              </a:defRPr>
            </a:pPr>
            <a:r>
              <a:rPr sz="1125">
                <a:solidFill>
                  <a:srgbClr val="1F2933"/>
                </a:solidFill>
              </a:rPr>
              <a:t>71  dev.off()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2F1CB-BE65-4B0C-9711-7483D56C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78E"/>
                </a:solidFill>
              </a:defRPr>
            </a:pPr>
            <a:r>
              <a:rPr sz="825">
                <a:solidFill>
                  <a:srgbClr val="7C878E"/>
                </a:solidFill>
              </a:rPr>
              <a:t>18-10A | source code</a:t>
            </a:r>
          </a:p>
        </p:txBody>
      </p:sp>
    </p:spTree>
    <p:extLst>
      <p:ext uri="{BB962C8B-B14F-4D97-AF65-F5344CB8AC3E}">
        <p14:creationId xmlns:p14="http://schemas.microsoft.com/office/powerpoint/2010/main" val="12626321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2026-06-24T02:12:16.0240000Z</dcterms:created>
  <dcterms:modified xsi:type="dcterms:W3CDTF">2026-06-24T02:12:16.0240000Z</dcterms:modified>
</coreProperties>
</file>