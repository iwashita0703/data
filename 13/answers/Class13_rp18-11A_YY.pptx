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9e00d86f8497d" /><Relationship Type="http://schemas.openxmlformats.org/officeDocument/2006/relationships/extended-properties" Target="/docProps/app.xml" Id="R1dd05dedeb67445c" /><Relationship Type="http://schemas.openxmlformats.org/officeDocument/2006/relationships/officeDocument" Target="/ppt/presentation.xml" Id="R884d7488313f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5c837976dc498c"/>
  </p:sldMasterIdLst>
  <p:notesMasterIdLst>
    <p:notesMasterId xmlns:r="http://schemas.openxmlformats.org/officeDocument/2006/relationships" r:id="R0403081b14594745"/>
  </p:notesMasterIdLst>
  <p:sldIdLst>
    <p:sldId xmlns:r="http://schemas.openxmlformats.org/officeDocument/2006/relationships" id="256" r:id="R8163ee5293bf454d"/>
    <p:sldId xmlns:r="http://schemas.openxmlformats.org/officeDocument/2006/relationships" id="257" r:id="Ra0faee57803b419e"/>
    <p:sldId xmlns:r="http://schemas.openxmlformats.org/officeDocument/2006/relationships" id="258" r:id="R43b66c4a2cad4a78"/>
    <p:sldId xmlns:r="http://schemas.openxmlformats.org/officeDocument/2006/relationships" id="259" r:id="Ra2bb327f98734145"/>
    <p:sldId xmlns:r="http://schemas.openxmlformats.org/officeDocument/2006/relationships" id="260" r:id="Rc222dbc4c6aa43b5"/>
    <p:sldId xmlns:r="http://schemas.openxmlformats.org/officeDocument/2006/relationships" id="261" r:id="Rb6acd2ec6d224c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f8a516f4b64f62" /><Relationship Type="http://schemas.openxmlformats.org/officeDocument/2006/relationships/slideMaster" Target="/ppt/slideMasters/slideMaster1.xml" Id="R4e5c837976dc498c" /><Relationship Type="http://schemas.openxmlformats.org/officeDocument/2006/relationships/notesMaster" Target="/ppt/notesMasters/notesMaster1.xml" Id="R0403081b14594745" /><Relationship Type="http://schemas.openxmlformats.org/officeDocument/2006/relationships/presProps" Target="/ppt/presProps.xml" Id="Rc9166669858b4e67" /><Relationship Type="http://schemas.openxmlformats.org/officeDocument/2006/relationships/tableStyles" Target="/ppt/tableStyles.xml" Id="R347d5e5fc1934d79" /><Relationship Type="http://schemas.openxmlformats.org/officeDocument/2006/relationships/slide" Target="/ppt/slides/slide1.xml" Id="R8163ee5293bf454d" /><Relationship Type="http://schemas.openxmlformats.org/officeDocument/2006/relationships/slide" Target="/ppt/slides/slide2.xml" Id="Ra0faee57803b419e" /><Relationship Type="http://schemas.openxmlformats.org/officeDocument/2006/relationships/slide" Target="/ppt/slides/slide3.xml" Id="R43b66c4a2cad4a78" /><Relationship Type="http://schemas.openxmlformats.org/officeDocument/2006/relationships/slide" Target="/ppt/slides/slide4.xml" Id="Ra2bb327f98734145" /><Relationship Type="http://schemas.openxmlformats.org/officeDocument/2006/relationships/slide" Target="/ppt/slides/slide5.xml" Id="Rc222dbc4c6aa43b5" /><Relationship Type="http://schemas.openxmlformats.org/officeDocument/2006/relationships/slide" Target="/ppt/slides/slide6.xml" Id="Rb6acd2ec6d22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c03ba5d32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22391b630459f" /><Relationship Type="http://schemas.openxmlformats.org/officeDocument/2006/relationships/notesMaster" Target="/ppt/notesMasters/notesMaster1.xml" Id="Ra1f4fd8d53ff43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968bd27c5492a" /><Relationship Type="http://schemas.openxmlformats.org/officeDocument/2006/relationships/notesMaster" Target="/ppt/notesMasters/notesMaster1.xml" Id="R05a292e5f04d4b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c5471f3e94dd5" /><Relationship Type="http://schemas.openxmlformats.org/officeDocument/2006/relationships/notesMaster" Target="/ppt/notesMasters/notesMaster1.xml" Id="Rac5fc718e22c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1ee99efea845e1" /><Relationship Type="http://schemas.openxmlformats.org/officeDocument/2006/relationships/notesMaster" Target="/ppt/notesMasters/notesMaster1.xml" Id="Re5e257f2fe4048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194c37c8184ca8" /><Relationship Type="http://schemas.openxmlformats.org/officeDocument/2006/relationships/notesMaster" Target="/ppt/notesMasters/notesMaster1.xml" Id="R86f5e960eb4140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7802b03384f99" /><Relationship Type="http://schemas.openxmlformats.org/officeDocument/2006/relationships/notesMaster" Target="/ppt/notesMasters/notesMaster1.xml" Id="R6a1264a90009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ae731079e45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95f94642c4413" /><Relationship Type="http://schemas.openxmlformats.org/officeDocument/2006/relationships/slideLayout" Target="/ppt/slideLayouts/slideLayout1.xml" Id="R02d97561bfa143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d97561bfa143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b44def894a3a" /><Relationship Type="http://schemas.openxmlformats.org/officeDocument/2006/relationships/notesSlide" Target="/ppt/notesSlides/notesSlide1.xml" Id="R282bfc23be644d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6cf27fc3c425a" /><Relationship Type="http://schemas.openxmlformats.org/officeDocument/2006/relationships/image" Target="/ppt/media/image.png" Id="Re479e99b35de4f58" /><Relationship Type="http://schemas.openxmlformats.org/officeDocument/2006/relationships/notesSlide" Target="/ppt/notesSlides/notesSlide2.xml" Id="R1f8407c0ceef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bd90c4b5247a7" /><Relationship Type="http://schemas.openxmlformats.org/officeDocument/2006/relationships/image" Target="/ppt/media/image2.png" Id="R95303678f557494a" /><Relationship Type="http://schemas.openxmlformats.org/officeDocument/2006/relationships/notesSlide" Target="/ppt/notesSlides/notesSlide3.xml" Id="R24c33aa2ffe044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c930f1aaf4feb" /><Relationship Type="http://schemas.openxmlformats.org/officeDocument/2006/relationships/image" Target="/ppt/media/image3.png" Id="Re9b753a4d3fc497c" /><Relationship Type="http://schemas.openxmlformats.org/officeDocument/2006/relationships/image" Target="/ppt/media/image4.png" Id="R9d7b77531f994d28" /><Relationship Type="http://schemas.openxmlformats.org/officeDocument/2006/relationships/image" Target="/ppt/media/image5.png" Id="R7bb3d0237f0944c9" /><Relationship Type="http://schemas.openxmlformats.org/officeDocument/2006/relationships/notesSlide" Target="/ppt/notesSlides/notesSlide4.xml" Id="Rbdb9b472abe2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ec650638045bd" /><Relationship Type="http://schemas.openxmlformats.org/officeDocument/2006/relationships/notesSlide" Target="/ppt/notesSlides/notesSlide5.xml" Id="R0a04adffa8214b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acb7603b04095" /><Relationship Type="http://schemas.openxmlformats.org/officeDocument/2006/relationships/notesSlide" Target="/ppt/notesSlides/notesSlide6.xml" Id="Ra7bd16a6ecc54d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方形/長方形 17">
            <a:extLst xmlns:a="http://schemas.openxmlformats.org/drawingml/2006/main">
              <a:ext uri="{FF2B5EF4-FFF2-40B4-BE49-F238E27FC236}">
                <a16:creationId xmlns:a16="http://schemas.microsoft.com/office/drawing/2014/main" id="{F5972C77-D6CD-4A1E-B48D-7E2BB717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A9D8F"/>
                </a:solidFill>
              </a:defRPr>
            </a:pPr>
            <a:r>
              <a:rPr sz="1350" b="1">
                <a:solidFill>
                  <a:srgbClr val="2A9D8F"/>
                </a:solidFill>
              </a:rPr>
              <a:t>18-11A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CC98E9C7-3B40-440B-8AB7-0D17A92D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3343B"/>
                </a:solidFill>
              </a:defRPr>
            </a:pPr>
            <a:r>
              <a:rPr sz="4050" b="1">
                <a:solidFill>
                  <a:srgbClr val="13343B"/>
                </a:solidFill>
              </a:rPr>
              <a:t>例2: 就職先で重視することの因子分析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38DB64A-0AA2-48C8-A999-9300255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D6B73"/>
                </a:solidFill>
              </a:defRPr>
            </a:pPr>
            <a:r>
              <a:rPr sz="1650">
                <a:solidFill>
                  <a:srgbClr val="5D6B73"/>
                </a:solidFill>
              </a:rPr>
              <a:t>syusyoku_jyuuyou.csvを使い、重視項目の背後にある3因子を確認</a:t>
            </a:r>
          </a:p>
        </p:txBody>
      </p:sp>
      <p:sp>
        <p:nvSpPr>
          <p:cNvPr id="4" name="角丸四角形 3">
            <a:extLst xmlns:a="http://schemas.openxmlformats.org/drawingml/2006/main">
              <a:ext uri="{FF2B5EF4-FFF2-40B4-BE49-F238E27FC236}">
                <a16:creationId xmlns:a16="http://schemas.microsoft.com/office/drawing/2014/main" id="{0DC0F629-D546-4DD4-93B1-AD04CE5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857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3818057-03F1-424B-9ED7-798F95A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857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F30918B-1973-44DD-B371-44E3703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6B73"/>
                </a:solidFill>
              </a:defRPr>
            </a:pPr>
            <a:r>
              <a:rPr sz="1200" b="1">
                <a:solidFill>
                  <a:srgbClr val="5D6B73"/>
                </a:solidFill>
              </a:rPr>
              <a:t>Data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AA693AB-BA16-48FA-9DD8-20C6288A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343B"/>
                </a:solidFill>
              </a:defRPr>
            </a:pPr>
            <a:r>
              <a:rPr sz="1800" b="1">
                <a:solidFill>
                  <a:srgbClr val="13343B"/>
                </a:solidFill>
              </a:rPr>
              <a:t>syusyoku_jyuuyou.csv</a:t>
            </a:r>
          </a:p>
        </p:txBody>
      </p:sp>
      <p:sp>
        <p:nvSpPr>
          <p:cNvPr id="8" name="角丸四角形 7">
            <a:extLst xmlns:a="http://schemas.openxmlformats.org/drawingml/2006/main">
              <a:ext uri="{FF2B5EF4-FFF2-40B4-BE49-F238E27FC236}">
                <a16:creationId xmlns:a16="http://schemas.microsoft.com/office/drawing/2014/main" id="{7E059C0B-036A-488E-AD8D-4DCAEB03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2857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1CC9BFD-C84E-4C7B-99E8-3BB96998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857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AD4A011-E60D-49F5-BB60-FFE74ED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908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6B73"/>
                </a:solidFill>
              </a:defRPr>
            </a:pPr>
            <a:r>
              <a:rPr sz="1200" b="1">
                <a:solidFill>
                  <a:srgbClr val="5D6B73"/>
                </a:solidFill>
              </a:rPr>
              <a:t>Factors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105A48F1-9875-4E7E-BAC1-1D96E0A2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86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343B"/>
                </a:solidFill>
              </a:defRPr>
            </a:pPr>
            <a:r>
              <a:rPr sz="1800" b="1">
                <a:solidFill>
                  <a:srgbClr val="13343B"/>
                </a:solidFill>
              </a:rPr>
              <a:t>3</a:t>
            </a:r>
          </a:p>
        </p:txBody>
      </p:sp>
      <p:sp>
        <p:nvSpPr>
          <p:cNvPr id="12" name="角丸四角形 11">
            <a:extLst xmlns:a="http://schemas.openxmlformats.org/drawingml/2006/main">
              <a:ext uri="{FF2B5EF4-FFF2-40B4-BE49-F238E27FC236}">
                <a16:creationId xmlns:a16="http://schemas.microsoft.com/office/drawing/2014/main" id="{7DBF9A81-3764-49EC-962D-810852E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2857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8741106D-BED3-45D9-BDBE-D496C97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857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正方形/長方形 13">
            <a:extLst xmlns:a="http://schemas.openxmlformats.org/drawingml/2006/main">
              <a:ext uri="{FF2B5EF4-FFF2-40B4-BE49-F238E27FC236}">
                <a16:creationId xmlns:a16="http://schemas.microsoft.com/office/drawing/2014/main" id="{6973800D-6001-451F-9963-B567F711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908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6B73"/>
                </a:solidFill>
              </a:defRPr>
            </a:pPr>
            <a:r>
              <a:rPr sz="1200" b="1">
                <a:solidFill>
                  <a:srgbClr val="5D6B73"/>
                </a:solidFill>
              </a:rPr>
              <a:t>Rotation</a:t>
            </a:r>
          </a:p>
        </p:txBody>
      </p:sp>
      <p:sp>
        <p:nvSpPr>
          <p:cNvPr id="15" name="正方形/長方形 14">
            <a:extLst xmlns:a="http://schemas.openxmlformats.org/drawingml/2006/main">
              <a:ext uri="{FF2B5EF4-FFF2-40B4-BE49-F238E27FC236}">
                <a16:creationId xmlns:a16="http://schemas.microsoft.com/office/drawing/2014/main" id="{DCAEBCEC-4E74-4299-9F81-ECC13A0A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343B"/>
                </a:solidFill>
              </a:defRPr>
            </a:pPr>
            <a:r>
              <a:rPr sz="1800" b="1">
                <a:solidFill>
                  <a:srgbClr val="13343B"/>
                </a:solidFill>
              </a:rPr>
              <a:t>varimax</a:t>
            </a:r>
          </a:p>
        </p:txBody>
      </p:sp>
      <p:sp>
        <p:nvSpPr>
          <p:cNvPr id="16" name="正方形/長方形 15">
            <a:extLst xmlns:a="http://schemas.openxmlformats.org/drawingml/2006/main">
              <a:ext uri="{FF2B5EF4-FFF2-40B4-BE49-F238E27FC236}">
                <a16:creationId xmlns:a16="http://schemas.microsoft.com/office/drawing/2014/main" id="{9AD7BB16-F92C-4480-A410-4C7E7BC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4313A"/>
                </a:solidFill>
              </a:defRPr>
            </a:pPr>
            <a:r>
              <a:rPr sz="1650">
                <a:solidFill>
                  <a:srgbClr val="24313A"/>
                </a:solidFill>
              </a:rPr>
              <a:t>・Factor1は新人教育・専門性・留学進学が大きく、能力成長志向と解釈できる</a:t>
            </a:r>
          </a:p>
          <a:p xmlns:a="http://schemas.openxmlformats.org/drawingml/2006/main">
            <a:pPr>
              <a:buNone/>
              <a:defRPr sz="1650">
                <a:solidFill>
                  <a:srgbClr val="24313A"/>
                </a:solidFill>
              </a:defRPr>
            </a:pPr>
            <a:r>
              <a:rPr sz="1650">
                <a:solidFill>
                  <a:srgbClr val="24313A"/>
                </a:solidFill>
              </a:rPr>
              <a:t>・Factor2は有名・伝統が大きく、安定・ブランド志向と解釈できる</a:t>
            </a:r>
          </a:p>
          <a:p xmlns:a="http://schemas.openxmlformats.org/drawingml/2006/main">
            <a:pPr>
              <a:buNone/>
              <a:defRPr sz="1650">
                <a:solidFill>
                  <a:srgbClr val="24313A"/>
                </a:solidFill>
              </a:defRPr>
            </a:pPr>
            <a:r>
              <a:rPr sz="1650">
                <a:solidFill>
                  <a:srgbClr val="24313A"/>
                </a:solidFill>
              </a:rPr>
              <a:t>・Factor3は若手・伸びそうが大きく、若手活躍・将来性志向と解釈できる</a:t>
            </a:r>
          </a:p>
        </p:txBody>
      </p:sp>
      <p:sp>
        <p:nvSpPr>
          <p:cNvPr id="17" name="正方形/長方形 16">
            <a:extLst xmlns:a="http://schemas.openxmlformats.org/drawingml/2006/main">
              <a:ext uri="{FF2B5EF4-FFF2-40B4-BE49-F238E27FC236}">
                <a16:creationId xmlns:a16="http://schemas.microsoft.com/office/drawing/2014/main" id="{D2C23533-431E-4760-AACC-5EF002F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18-11A | factor analysis by R factanal()</a:t>
            </a:r>
          </a:p>
        </p:txBody>
      </p:sp>
    </p:spTree>
    <p:extLst>
      <p:ext uri="{BB962C8B-B14F-4D97-AF65-F5344CB8AC3E}">
        <p14:creationId xmlns:p14="http://schemas.microsoft.com/office/powerpoint/2010/main" val="1293845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F3E67D8-04BE-49B7-9354-E7312C4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9e99b35de4f58"/>
          <a:stretch xmlns:a="http://schemas.openxmlformats.org/drawingml/2006/main"/>
        </p:blipFill>
        <p:spPr>
          <a:xfrm xmlns:a="http://schemas.openxmlformats.org/drawingml/2006/main">
            <a:off x="2142711" y="1352550"/>
            <a:ext cx="7335078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56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D992CA86-0733-46A3-B7E5-7FAC881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6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03678f557494a"/>
          <a:stretch xmlns:a="http://schemas.openxmlformats.org/drawingml/2006/main"/>
        </p:blipFill>
        <p:spPr>
          <a:xfrm xmlns:a="http://schemas.openxmlformats.org/drawingml/2006/main">
            <a:off x="2486025" y="1428750"/>
            <a:ext cx="62674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47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DE67F55-6EAC-4F56-BA34-AD02570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8" name="図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753a4d3fc497c"/>
          <a:stretch xmlns:a="http://schemas.openxmlformats.org/drawingml/2006/main"/>
        </p:blipFill>
        <p:spPr>
          <a:xfrm xmlns:a="http://schemas.openxmlformats.org/drawingml/2006/main">
            <a:off x="523875" y="1915205"/>
            <a:ext cx="3524250" cy="2265589"/>
          </a:xfrm>
          <a:prstGeom xmlns:a="http://schemas.openxmlformats.org/drawingml/2006/main" prst="rect">
            <a:avLst/>
          </a:prstGeom>
        </p:spPr>
      </p:pic>
      <p:pic>
        <p:nvPicPr>
          <p:cNvPr id="9" name="図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b77531f994d28"/>
          <a:stretch xmlns:a="http://schemas.openxmlformats.org/drawingml/2006/main"/>
        </p:blipFill>
        <p:spPr>
          <a:xfrm xmlns:a="http://schemas.openxmlformats.org/drawingml/2006/main">
            <a:off x="4333875" y="1915205"/>
            <a:ext cx="3524250" cy="2265589"/>
          </a:xfrm>
          <a:prstGeom xmlns:a="http://schemas.openxmlformats.org/drawingml/2006/main" prst="rect">
            <a:avLst/>
          </a:prstGeom>
        </p:spPr>
      </p:pic>
      <p:pic>
        <p:nvPicPr>
          <p:cNvPr id="10" name="図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3d0237f0944c9"/>
          <a:stretch xmlns:a="http://schemas.openxmlformats.org/drawingml/2006/main"/>
        </p:blipFill>
        <p:spPr>
          <a:xfrm xmlns:a="http://schemas.openxmlformats.org/drawingml/2006/main">
            <a:off x="8143875" y="1915205"/>
            <a:ext cx="3524250" cy="2265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3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04874-F3E7-4D21-BFF6-4D972484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E024D-E991-40A7-B621-562B78D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Class13_rp18-11A_YY.R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7B162-7F05-44AF-916F-34D0A48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039D2-27D4-48B5-8640-5ED415AE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syusyoku &lt;- read.table("./syusyoku_jyuuyou.csv", header=T, sep=",")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syusyoku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head(syusyoku)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syusyoku_fact &lt;- factanal(syusyoku[,-1], factors=3, scores="regression", rotation="varimax")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str(syusyoku_fact)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syusyoku_fact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syusyoku_fact$loadings[,1:3]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apply(syusyoku_fact$loadings, 1, function(x){1-sum(x^2)})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syusyoku_fact$scores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pdf("./answers/plots_pdf/18-11A_syusyoku_biplot.pdf", width=8.5, height=6.2)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biplot(syusyoku_fact$scores, syusyoku_fact$loadings, xlabs=syusyoku[,1])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36671-CA89-494A-81F7-1C68A25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18-11A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1172651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335F53-9ACF-4078-8ED2-A00AA565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A84D0-B5D9-4296-BF6A-93F57913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Class13_rp18-11A_YY.R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791E5-D35B-4B97-A7F2-C646E9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DDF13-A61D-4C73-B6A2-029A0936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pdf("./answers/plots_pdf/18-11A_syusyoku_factor1_bar.pdf",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barplot(syusyoku_fact$loadings[,1], cex.names=0.8, las=2, ylim=c(-0.5,1.1))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pdf("./answers/plots_pdf/18-11A_syusyoku_factor2_bar.pdf",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barplot(syusyoku_fact$loadings[,2], cex.names=0.8, las=2, ylim=c(-0.5,1.1))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37  pdf("./answers/plots_pdf/18-11A_syusyoku_factor3_bar.pdf",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38  barplot(syusyoku_fact$loadings[,3], cex.names=0.8, las=2, ylim=c(-0.5,1.1))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39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40  dev.off()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6D227-10E5-4FA1-A01C-72A86A4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18-11A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49772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2026-06-24T02:12:18.6340000Z</dcterms:created>
  <dcterms:modified xsi:type="dcterms:W3CDTF">2026-06-24T02:12:18.6340000Z</dcterms:modified>
</coreProperties>
</file>